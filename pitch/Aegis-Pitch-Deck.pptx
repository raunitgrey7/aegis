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Techniques covered</c:v>
                </c:pt>
              </c:strCache>
            </c:strRef>
          </c:tx>
          <c:spPr>
            <a:solidFill>
              <a:srgbClr val="38BDF8"/>
            </a:solidFill>
          </c:spPr>
          <c:cat>
            <c:strRef>
              <c:f>Sheet1!$A$2:$A$13</c:f>
              <c:strCache>
                <c:ptCount val="12"/>
                <c:pt idx="0">
                  <c:v>Initial
Access</c:v>
                </c:pt>
                <c:pt idx="1">
                  <c:v>Execution</c:v>
                </c:pt>
                <c:pt idx="2">
                  <c:v>Persistence</c:v>
                </c:pt>
                <c:pt idx="3">
                  <c:v>Priv.
Esc.</c:v>
                </c:pt>
                <c:pt idx="4">
                  <c:v>Defense
Evasion</c:v>
                </c:pt>
                <c:pt idx="5">
                  <c:v>Cred.
Access</c:v>
                </c:pt>
                <c:pt idx="6">
                  <c:v>Discovery</c:v>
                </c:pt>
                <c:pt idx="7">
                  <c:v>Lateral
Move.</c:v>
                </c:pt>
                <c:pt idx="8">
                  <c:v>Collection</c:v>
                </c:pt>
                <c:pt idx="9">
                  <c:v>C2</c:v>
                </c:pt>
                <c:pt idx="10">
                  <c:v>Exfil.</c:v>
                </c:pt>
                <c:pt idx="11">
                  <c:v>Impact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</c:v>
                </c:pt>
                <c:pt idx="1">
                  <c:v>11</c:v>
                </c:pt>
                <c:pt idx="2">
                  <c:v>8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6</c:v>
                </c:pt>
                <c:pt idx="7">
                  <c:v>6</c:v>
                </c:pt>
                <c:pt idx="8">
                  <c:v>4</c:v>
                </c:pt>
                <c:pt idx="9">
                  <c:v>9</c:v>
                </c:pt>
                <c:pt idx="10">
                  <c:v>5</c:v>
                </c:pt>
                <c:pt idx="11">
                  <c:v>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>
                  <a:solidFill>
                    <a:srgbClr val="E8EDF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42E47"/>
            </a:solidFill>
          </a:ln>
        </c:spPr>
        <c:txPr>
          <a:bodyPr/>
          <a:lstStyle/>
          <a:p>
            <a:pPr>
              <a:defRPr sz="1000">
                <a:solidFill>
                  <a:srgbClr val="E8EDF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  <c:min val="0.0"/>
        </c:scaling>
        <c:delete val="0"/>
        <c:axPos val="l"/>
        <c:majorGridlines>
          <c:spPr>
            <a:ln w="6350">
              <a:solidFill>
                <a:srgbClr val="242E47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42E47"/>
            </a:solidFill>
          </a:ln>
        </c:spPr>
        <c:txPr>
          <a:bodyPr/>
          <a:lstStyle/>
          <a:p>
            <a:pPr>
              <a:defRPr sz="900">
                <a:solidFill>
                  <a:srgbClr val="8B97B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E8EDF7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</c:v>
                </c:pt>
              </c:strCache>
            </c:strRef>
          </c:tx>
          <c:spPr>
            <a:solidFill>
              <a:srgbClr val="22C55E"/>
            </a:solidFill>
          </c:spPr>
          <c:cat>
            <c:strRef>
              <c:f>Sheet1!$A$2:$A$9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Chain reconstruction</c:v>
                </c:pt>
              </c:strCache>
            </c:strRef>
          </c:tx>
          <c:spPr>
            <a:solidFill>
              <a:srgbClr val="38BDF8"/>
            </a:solidFill>
          </c:spPr>
          <c:cat>
            <c:strRef>
              <c:f>Sheet1!$A$2:$A$9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100.0</c:v>
                </c:pt>
                <c:pt idx="1">
                  <c:v>50.0</c:v>
                </c:pt>
                <c:pt idx="2">
                  <c:v>100.0</c:v>
                </c:pt>
                <c:pt idx="3">
                  <c:v>100.0</c:v>
                </c:pt>
                <c:pt idx="4">
                  <c:v>66.7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Technique recall</c:v>
                </c:pt>
              </c:strCache>
            </c:strRef>
          </c:tx>
          <c:spPr>
            <a:solidFill>
              <a:srgbClr val="818CF8"/>
            </a:solidFill>
          </c:spPr>
          <c:cat>
            <c:strRef>
              <c:f>Sheet1!$A$2:$A$9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100.0</c:v>
                </c:pt>
                <c:pt idx="1">
                  <c:v>66.7</c:v>
                </c:pt>
                <c:pt idx="2">
                  <c:v>100.0</c:v>
                </c:pt>
                <c:pt idx="3">
                  <c:v>100.0</c:v>
                </c:pt>
                <c:pt idx="4">
                  <c:v>75.0</c:v>
                </c:pt>
                <c:pt idx="5">
                  <c:v>100.0</c:v>
                </c:pt>
                <c:pt idx="6">
                  <c:v>100.0</c:v>
                </c:pt>
                <c:pt idx="7">
                  <c:v>50.0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42E47"/>
            </a:solidFill>
          </a:ln>
        </c:spPr>
        <c:txPr>
          <a:bodyPr/>
          <a:lstStyle/>
          <a:p>
            <a:pPr>
              <a:defRPr sz="1000">
                <a:solidFill>
                  <a:srgbClr val="E8EDF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 val="0"/>
        <c:axPos val="l"/>
        <c:majorGridlines>
          <c:spPr>
            <a:ln w="6350">
              <a:solidFill>
                <a:srgbClr val="242E47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42E47"/>
            </a:solidFill>
          </a:ln>
        </c:spPr>
        <c:txPr>
          <a:bodyPr/>
          <a:lstStyle/>
          <a:p>
            <a:pPr>
              <a:defRPr sz="900">
                <a:solidFill>
                  <a:srgbClr val="8B97B0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E8EDF7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E8EDF7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200" b="1">
                <a:solidFill>
                  <a:srgbClr val="E8EDF7"/>
                </a:solidFill>
                <a:latin typeface="Segoe UI"/>
              </a:rPr>
              <a:t>Detection method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818CF8"/>
              </a:solidFill>
              <a:ln w="19050">
                <a:solidFill>
                  <a:srgbClr val="0A0E1A"/>
                </a:solidFill>
              </a:ln>
            </c:spPr>
          </c:dPt>
          <c:dPt>
            <c:idx val="1"/>
            <c:spPr>
              <a:solidFill>
                <a:srgbClr val="38BDF8"/>
              </a:solidFill>
              <a:ln w="19050">
                <a:solidFill>
                  <a:srgbClr val="0A0E1A"/>
                </a:solidFill>
              </a:ln>
            </c:spPr>
          </c:dPt>
          <c:dPt>
            <c:idx val="2"/>
            <c:spPr>
              <a:solidFill>
                <a:srgbClr val="3B82F6"/>
              </a:solidFill>
              <a:ln w="19050">
                <a:solidFill>
                  <a:srgbClr val="0A0E1A"/>
                </a:solidFill>
              </a:ln>
            </c:spPr>
          </c:dPt>
          <c:dPt>
            <c:idx val="3"/>
            <c:spPr>
              <a:solidFill>
                <a:srgbClr val="F9730B"/>
              </a:solidFill>
              <a:ln w="19050">
                <a:solidFill>
                  <a:srgbClr val="0A0E1A"/>
                </a:solidFill>
              </a:ln>
            </c:spPr>
          </c:dPt>
          <c:dPt>
            <c:idx val="4"/>
            <c:spPr>
              <a:solidFill>
                <a:srgbClr val="22C55E"/>
              </a:solidFill>
              <a:ln w="19050">
                <a:solidFill>
                  <a:srgbClr val="0A0E1A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Behavioral chains</c:v>
                </c:pt>
                <c:pt idx="1">
                  <c:v>Rule (match)</c:v>
                </c:pt>
                <c:pt idx="2">
                  <c:v>Threshold</c:v>
                </c:pt>
                <c:pt idx="3">
                  <c:v>Statistical anomaly</c:v>
                </c:pt>
                <c:pt idx="4">
                  <c:v>Threat intel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</c:v>
                </c:pt>
                <c:pt idx="1">
                  <c:v>34</c:v>
                </c:pt>
                <c:pt idx="2">
                  <c:v>12</c:v>
                </c:pt>
                <c:pt idx="3">
                  <c:v>16</c:v>
                </c:pt>
                <c:pt idx="4">
                  <c:v>12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E8EDF7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000">
              <a:solidFill>
                <a:srgbClr val="E8EDF7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E8EDF7"/>
          </a:solidFill>
          <a:latin typeface="Segoe UI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92640" y="0"/>
            <a:ext cx="27432" cy="6858000"/>
          </a:xfrm>
          <a:prstGeom prst="rect">
            <a:avLst/>
          </a:prstGeom>
          <a:solidFill>
            <a:srgbClr val="24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0" y="0"/>
            <a:ext cx="27432" cy="6858000"/>
          </a:xfrm>
          <a:prstGeom prst="rect">
            <a:avLst/>
          </a:prstGeom>
          <a:solidFill>
            <a:srgbClr val="24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38560" y="0"/>
            <a:ext cx="27432" cy="6858000"/>
          </a:xfrm>
          <a:prstGeom prst="rect">
            <a:avLst/>
          </a:prstGeom>
          <a:solidFill>
            <a:srgbClr val="24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BDF8"/>
                </a:solidFill>
                <a:latin typeface="Segoe UI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0312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E8EDF7"/>
                </a:solidFill>
                <a:latin typeface="Segoe UI"/>
              </a:rPr>
              <a:t>The AI Security Analyst</a:t>
            </a:r>
          </a:p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E8EDF7"/>
                </a:solidFill>
                <a:latin typeface="Segoe UI"/>
              </a:rPr>
              <a:t>that reconstructs the whole attack.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79476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B97B0"/>
                </a:solidFill>
                <a:latin typeface="Segoe UI"/>
              </a:rPr>
              <a:t>A self-hosted platform that ingests security telemetry, detects malicious behavior with deterministic engines, reconstructs the attack chain as a graph, and explains the evidence — with zero API-key dependency.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92040"/>
            <a:ext cx="2395728" cy="11430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0056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22C55E"/>
                </a:solidFill>
                <a:latin typeface="Segoe UI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68112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B0"/>
                </a:solidFill>
                <a:latin typeface="Segoe UI"/>
              </a:rPr>
              <a:t>Detection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4892040"/>
            <a:ext cx="2395728" cy="11430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5020056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38BDF8"/>
                </a:solidFill>
                <a:latin typeface="Segoe UI"/>
              </a:rPr>
              <a:t>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5468112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B0"/>
                </a:solidFill>
                <a:latin typeface="Segoe UI"/>
              </a:rPr>
              <a:t>False-positive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88736" y="4892040"/>
            <a:ext cx="2395728" cy="11430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8736" y="5020056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818CF8"/>
                </a:solidFill>
                <a:latin typeface="Segoe UI"/>
              </a:rPr>
              <a:t>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736" y="5468112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B0"/>
                </a:solidFill>
                <a:latin typeface="Segoe UI"/>
              </a:rPr>
              <a:t>Attack-chain recon.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21624" y="4892040"/>
            <a:ext cx="2395728" cy="11430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5020056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F9730B"/>
                </a:solidFill>
                <a:latin typeface="Segoe UI"/>
              </a:rPr>
              <a:t>₹0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5468112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B0"/>
                </a:solidFill>
                <a:latin typeface="Segoe UI"/>
              </a:rPr>
              <a:t>API-key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6078"/>
                </a:solidFill>
                <a:latin typeface="Segoe UI"/>
              </a:rPr>
              <a:t>Portfolio project · self-hosted · local LLM (Ollama) · MITRE ATT&amp;CK · 58 detections · reproducible benchmark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108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846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Segoe UI"/>
              </a:rPr>
              <a:t>AEGIS  ·  AI-POWERED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7"/>
                </a:solidFill>
                <a:latin typeface="Segoe UI"/>
              </a:rPr>
              <a:t>Security teams are drowning in alerts, not attacks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7B0"/>
                </a:solidFill>
                <a:latin typeface="Segoe UI"/>
              </a:rPr>
              <a:t>The bottleneck is not detection — it is investigation.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Aegis — AI-Powered Cybersecurity Investigation &amp; Threat-Intelligence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331720"/>
            <a:ext cx="82296" cy="17373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7"/>
                </a:solidFill>
                <a:latin typeface="Segoe UI"/>
              </a:rPr>
              <a:t>The 6-event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90088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8B97B0"/>
                </a:solidFill>
                <a:latin typeface="Segoe UI"/>
              </a:rPr>
              <a:t>A real intrusion is a handful of events scattered across authentication, endpoint, network and DNS logs — buried in millions of benign ones.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331720"/>
            <a:ext cx="82296" cy="1737360"/>
          </a:xfrm>
          <a:prstGeom prst="rect">
            <a:avLst/>
          </a:prstGeom>
          <a:solidFill>
            <a:srgbClr val="F97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53288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7"/>
                </a:solidFill>
                <a:latin typeface="Segoe UI"/>
              </a:rPr>
              <a:t>Alert fatigue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990088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8B97B0"/>
                </a:solidFill>
                <a:latin typeface="Segoe UI"/>
              </a:rPr>
              <a:t>SOC tools emit thousands of disconnected alerts a day. Analysts triage in isolation and miss the story that connects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4340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343400"/>
            <a:ext cx="82296" cy="173736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54456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7"/>
                </a:solidFill>
                <a:latin typeface="Segoe UI"/>
              </a:rPr>
              <a:t>Talent shortage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001768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8B97B0"/>
                </a:solidFill>
                <a:latin typeface="Segoe UI"/>
              </a:rPr>
              <a:t>~4 million unfilled cybersecurity roles globally. Investigation expertise is scarce, slow to train, and expensive.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34340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343400"/>
            <a:ext cx="82296" cy="173736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454456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7"/>
                </a:solidFill>
                <a:latin typeface="Segoe UI"/>
              </a:rPr>
              <a:t>"Chat with your logs" isn't enough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5001768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8B97B0"/>
                </a:solidFill>
                <a:latin typeface="Segoe UI"/>
              </a:rPr>
              <a:t>Bolting an LLM onto raw logs produces confident guesses, not evidence. It cannot be trusted to decide what is malicious.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108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846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Segoe UI"/>
              </a:rPr>
              <a:t>AEGIS  ·  AI-POWERED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7"/>
                </a:solidFill>
                <a:latin typeface="Segoe UI"/>
              </a:rPr>
              <a:t>Aegis: an evidence-grounded AI security 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7B0"/>
                </a:solidFill>
                <a:latin typeface="Segoe UI"/>
              </a:rPr>
              <a:t>Deterministic detection does the judging. AI does the explaining. Every claim cites real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Aegis — AI-Powered Cybersecurity Investigation &amp; Threat-Intelligence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1206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BDF8"/>
                </a:solidFill>
                <a:latin typeface="Segoe UI"/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▸ </a:t>
            </a:r>
            <a:r>
              <a:rPr sz="1250" b="1">
                <a:solidFill>
                  <a:srgbClr val="E8EDF7"/>
                </a:solidFill>
                <a:latin typeface="Segoe UI"/>
              </a:rPr>
              <a:t>Ingests </a:t>
            </a:r>
            <a:r>
              <a:rPr sz="1250">
                <a:solidFill>
                  <a:srgbClr val="E8EDF7"/>
                </a:solidFill>
                <a:latin typeface="Segoe UI"/>
              </a:rPr>
              <a:t>authentication, process, file, network, DNS, and threat-intel telemetry into one normalized schema.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▸ </a:t>
            </a:r>
            <a:r>
              <a:rPr sz="1250" b="1">
                <a:solidFill>
                  <a:srgbClr val="E8EDF7"/>
                </a:solidFill>
                <a:latin typeface="Segoe UI"/>
              </a:rPr>
              <a:t>Detects </a:t>
            </a:r>
            <a:r>
              <a:rPr sz="1250">
                <a:solidFill>
                  <a:srgbClr val="E8EDF7"/>
                </a:solidFill>
                <a:latin typeface="Segoe UI"/>
              </a:rPr>
              <a:t>with rules + statistics + threat intelligence — never with an LLM guess.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▸ </a:t>
            </a:r>
            <a:r>
              <a:rPr sz="1250" b="1">
                <a:solidFill>
                  <a:srgbClr val="E8EDF7"/>
                </a:solidFill>
                <a:latin typeface="Segoe UI"/>
              </a:rPr>
              <a:t>Correlates </a:t>
            </a:r>
            <a:r>
              <a:rPr sz="1250">
                <a:solidFill>
                  <a:srgbClr val="E8EDF7"/>
                </a:solidFill>
                <a:latin typeface="Segoe UI"/>
              </a:rPr>
              <a:t>scattered detections into a single incident by shared identity, host and time.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▸ </a:t>
            </a:r>
            <a:r>
              <a:rPr sz="1250" b="1">
                <a:solidFill>
                  <a:srgbClr val="E8EDF7"/>
                </a:solidFill>
                <a:latin typeface="Segoe UI"/>
              </a:rPr>
              <a:t>Reconstructs </a:t>
            </a:r>
            <a:r>
              <a:rPr sz="1250">
                <a:solidFill>
                  <a:srgbClr val="E8EDF7"/>
                </a:solidFill>
                <a:latin typeface="Segoe UI"/>
              </a:rPr>
              <a:t>the attack as a phase-ordered graph you can click through to raw evidence.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▸ </a:t>
            </a:r>
            <a:r>
              <a:rPr sz="1250" b="1">
                <a:solidFill>
                  <a:srgbClr val="E8EDF7"/>
                </a:solidFill>
                <a:latin typeface="Segoe UI"/>
              </a:rPr>
              <a:t>Investigates </a:t>
            </a:r>
            <a:r>
              <a:rPr sz="1250">
                <a:solidFill>
                  <a:srgbClr val="E8EDF7"/>
                </a:solidFill>
                <a:latin typeface="Segoe UI"/>
              </a:rPr>
              <a:t>with specialized AI agents that explain the incident and recommend actions.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▸ </a:t>
            </a:r>
            <a:r>
              <a:rPr sz="1250" b="1">
                <a:solidFill>
                  <a:srgbClr val="E8EDF7"/>
                </a:solidFill>
                <a:latin typeface="Segoe UI"/>
              </a:rPr>
              <a:t>Proves it </a:t>
            </a:r>
            <a:r>
              <a:rPr sz="1250">
                <a:solidFill>
                  <a:srgbClr val="E8EDF7"/>
                </a:solidFill>
                <a:latin typeface="Segoe UI"/>
              </a:rPr>
              <a:t>— every AI sentence is validated against real event IDs before you see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286000"/>
            <a:ext cx="5074920" cy="370332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51460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8BDF8"/>
                </a:solidFill>
                <a:latin typeface="Segoe UI"/>
              </a:rPr>
              <a:t>The core principle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97180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8EDF7"/>
                </a:solidFill>
                <a:latin typeface="Segoe UI"/>
              </a:rPr>
              <a:t>AI is not the detector.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520440"/>
            <a:ext cx="4434840" cy="27432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520440"/>
            <a:ext cx="4434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Events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3863340"/>
            <a:ext cx="4434840" cy="27432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863340"/>
            <a:ext cx="4434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Normalization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4206240"/>
            <a:ext cx="4434840" cy="27432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206240"/>
            <a:ext cx="4434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E8EDF7"/>
                </a:solidFill>
                <a:latin typeface="Segoe UI"/>
              </a:rPr>
              <a:t>Rules + Statistics + Threat Intel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4549140"/>
            <a:ext cx="4434840" cy="27432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549140"/>
            <a:ext cx="4434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E8EDF7"/>
                </a:solidFill>
                <a:latin typeface="Segoe UI"/>
              </a:rPr>
              <a:t>Correlation → Attack Graph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4892040"/>
            <a:ext cx="4434840" cy="27432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892040"/>
            <a:ext cx="4434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Risk Scoring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5234940"/>
            <a:ext cx="4434840" cy="27432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34940"/>
            <a:ext cx="4434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818CF8"/>
                </a:solidFill>
                <a:latin typeface="Segoe UI"/>
              </a:rPr>
              <a:t>AI Investigation (explains)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5577840"/>
            <a:ext cx="4434840" cy="27432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5577840"/>
            <a:ext cx="4434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Human Analyst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108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846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Segoe UI"/>
              </a:rPr>
              <a:t>AEGIS  ·  AI-POWERED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7"/>
                </a:solidFill>
                <a:latin typeface="Segoe UI"/>
              </a:rPr>
              <a:t>What a normal log viewer shows vs. what Aegis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7B0"/>
                </a:solidFill>
                <a:latin typeface="Segoe UI"/>
              </a:rPr>
              <a:t>Six unrelated lines — or one credential-compromise-to-exfiltration 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Aegis — AI-Powered Cybersecurity Investigation &amp; Threat-Intelligence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6035040" cy="512064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73152" cy="5120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9144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Consolas"/>
              </a:rPr>
              <a:t>02:13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286000"/>
            <a:ext cx="37490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8EDF7"/>
                </a:solidFill>
                <a:latin typeface="Segoe UI"/>
              </a:rPr>
              <a:t>Login from unusual location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95728"/>
            <a:ext cx="1234440" cy="292608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2414016"/>
            <a:ext cx="12344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0E1A"/>
                </a:solidFill>
                <a:latin typeface="Segoe UI"/>
              </a:rPr>
              <a:t>initial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9504"/>
            <a:ext cx="6035040" cy="512064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89504"/>
            <a:ext cx="73152" cy="512064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889504"/>
            <a:ext cx="9144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Consolas"/>
              </a:rPr>
              <a:t>02:15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889504"/>
            <a:ext cx="37490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8EDF7"/>
                </a:solidFill>
                <a:latin typeface="Segoe UI"/>
              </a:rPr>
              <a:t>PowerShell process spawned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2999232"/>
            <a:ext cx="845820" cy="292608"/>
          </a:xfrm>
          <a:prstGeom prst="roundRect">
            <a:avLst>
              <a:gd name="adj" fmla="val 6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3017520"/>
            <a:ext cx="8458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0E1A"/>
                </a:solidFill>
                <a:latin typeface="Segoe UI"/>
              </a:rPr>
              <a:t>execution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93008"/>
            <a:ext cx="6035040" cy="512064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493008"/>
            <a:ext cx="73152" cy="512064"/>
          </a:xfrm>
          <a:prstGeom prst="rect">
            <a:avLst/>
          </a:prstGeom>
          <a:solidFill>
            <a:srgbClr val="F97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493008"/>
            <a:ext cx="9144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Consolas"/>
              </a:rPr>
              <a:t>02:16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3493008"/>
            <a:ext cx="37490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8EDF7"/>
                </a:solidFill>
                <a:latin typeface="Segoe UI"/>
              </a:rPr>
              <a:t>Encoded command executed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3602736"/>
            <a:ext cx="845820" cy="292608"/>
          </a:xfrm>
          <a:prstGeom prst="roundRect">
            <a:avLst>
              <a:gd name="adj" fmla="val 6000"/>
            </a:avLst>
          </a:prstGeom>
          <a:solidFill>
            <a:srgbClr val="F97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621024"/>
            <a:ext cx="8458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0E1A"/>
                </a:solidFill>
                <a:latin typeface="Segoe UI"/>
              </a:rPr>
              <a:t>execution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096512"/>
            <a:ext cx="6035040" cy="512064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096512"/>
            <a:ext cx="73152" cy="512064"/>
          </a:xfrm>
          <a:prstGeom prst="rect">
            <a:avLst/>
          </a:prstGeom>
          <a:solidFill>
            <a:srgbClr val="F97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096512"/>
            <a:ext cx="9144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Consolas"/>
              </a:rPr>
              <a:t>02:17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096512"/>
            <a:ext cx="37490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8EDF7"/>
                </a:solidFill>
                <a:latin typeface="Segoe UI"/>
              </a:rPr>
              <a:t>Outbound connection to known-bad IP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4206240"/>
            <a:ext cx="1467612" cy="292608"/>
          </a:xfrm>
          <a:prstGeom prst="roundRect">
            <a:avLst>
              <a:gd name="adj" fmla="val 6000"/>
            </a:avLst>
          </a:prstGeom>
          <a:solidFill>
            <a:srgbClr val="F97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0" y="4224528"/>
            <a:ext cx="146761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0E1A"/>
                </a:solidFill>
                <a:latin typeface="Segoe UI"/>
              </a:rPr>
              <a:t>command &amp; control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700016"/>
            <a:ext cx="6035040" cy="512064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700016"/>
            <a:ext cx="73152" cy="512064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700016"/>
            <a:ext cx="9144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Consolas"/>
              </a:rPr>
              <a:t>02:18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83080" y="4700016"/>
            <a:ext cx="37490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8EDF7"/>
                </a:solidFill>
                <a:latin typeface="Segoe UI"/>
              </a:rPr>
              <a:t>Large archive created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0" y="4809744"/>
            <a:ext cx="923544" cy="292608"/>
          </a:xfrm>
          <a:prstGeom prst="roundRect">
            <a:avLst>
              <a:gd name="adj" fmla="val 6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0" y="4828032"/>
            <a:ext cx="9235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0E1A"/>
                </a:solidFill>
                <a:latin typeface="Segoe UI"/>
              </a:rPr>
              <a:t>collection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303520"/>
            <a:ext cx="6035040" cy="512064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303520"/>
            <a:ext cx="73152" cy="5120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303520"/>
            <a:ext cx="9144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Consolas"/>
              </a:rPr>
              <a:t>02:19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83080" y="5303520"/>
            <a:ext cx="37490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8EDF7"/>
                </a:solidFill>
                <a:latin typeface="Segoe UI"/>
              </a:rPr>
              <a:t>Archive transmitted externally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0" y="5413248"/>
            <a:ext cx="1078992" cy="292608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0" y="5431536"/>
            <a:ext cx="107899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0E1A"/>
                </a:solidFill>
                <a:latin typeface="Segoe UI"/>
              </a:rPr>
              <a:t>exfiltration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49440" y="2286000"/>
            <a:ext cx="4572000" cy="3621024"/>
          </a:xfrm>
          <a:prstGeom prst="roundRect">
            <a:avLst>
              <a:gd name="adj" fmla="val 6000"/>
            </a:avLst>
          </a:prstGeom>
          <a:solidFill>
            <a:srgbClr val="1A1014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23760" y="2487168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4444"/>
                </a:solidFill>
                <a:latin typeface="Segoe UI"/>
              </a:rPr>
              <a:t>AEGIS VERDICT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2852928"/>
            <a:ext cx="4023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E8EDF7"/>
                </a:solidFill>
                <a:latin typeface="Segoe UI"/>
              </a:rPr>
              <a:t>Likely credential compromise followed by command execution and data exfiltration.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388620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0B"/>
                </a:solidFill>
                <a:latin typeface="Segoe UI"/>
              </a:rPr>
              <a:t>Risk 91 / 100   ·   Confidence 94%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4343400"/>
            <a:ext cx="4069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22C55E"/>
                </a:solidFill>
                <a:latin typeface="Segoe UI"/>
              </a:rPr>
              <a:t>✓ </a:t>
            </a:r>
            <a:r>
              <a:rPr sz="1150">
                <a:solidFill>
                  <a:srgbClr val="E8EDF7"/>
                </a:solidFill>
                <a:latin typeface="Segoe UI"/>
              </a:rPr>
              <a:t>6 kill-chain phases linked into one incident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22C55E"/>
                </a:solidFill>
                <a:latin typeface="Segoe UI"/>
              </a:rPr>
              <a:t>✓ </a:t>
            </a:r>
            <a:r>
              <a:rPr sz="1150">
                <a:solidFill>
                  <a:srgbClr val="E8EDF7"/>
                </a:solidFill>
                <a:latin typeface="Segoe UI"/>
              </a:rPr>
              <a:t>Every node traces back to a real event ID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22C55E"/>
                </a:solidFill>
                <a:latin typeface="Segoe UI"/>
              </a:rPr>
              <a:t>✓ </a:t>
            </a:r>
            <a:r>
              <a:rPr sz="1150">
                <a:solidFill>
                  <a:srgbClr val="E8EDF7"/>
                </a:solidFill>
                <a:latin typeface="Segoe UI"/>
              </a:rPr>
              <a:t>Recommended: disable session, reset creds, isolate host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108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846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Segoe UI"/>
              </a:rPr>
              <a:t>AEGIS  ·  AI-POWERED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7"/>
                </a:solidFill>
                <a:latin typeface="Segoe UI"/>
              </a:rPr>
              <a:t>How it works — a deterministic pipeline with AI at the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7B0"/>
                </a:solidFill>
                <a:latin typeface="Segoe UI"/>
              </a:rPr>
              <a:t>Nine stages. The LLM only enters at stage 8, and only to explain.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Aegis — AI-Powered Cybersecurity Investigation &amp; Threat-Intelligence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26080"/>
            <a:ext cx="1170432" cy="105156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926080"/>
            <a:ext cx="117043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8EDF7"/>
                </a:solidFill>
                <a:latin typeface="Segoe UI"/>
              </a:rPr>
              <a:t>Event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8EDF7"/>
                </a:solidFill>
                <a:latin typeface="Segoe UI"/>
              </a:rPr>
              <a:t>Ingestion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0" y="3451860"/>
            <a:ext cx="71323" cy="0"/>
          </a:xfrm>
          <a:prstGeom prst="bentConnector3">
            <a:avLst/>
          </a:prstGeom>
          <a:ln w="1778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819656" y="2926080"/>
            <a:ext cx="1170432" cy="105156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19656" y="2926080"/>
            <a:ext cx="117043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8EDF7"/>
                </a:solidFill>
                <a:latin typeface="Segoe UI"/>
              </a:rPr>
              <a:t>Normali-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8EDF7"/>
                </a:solidFill>
                <a:latin typeface="Segoe UI"/>
              </a:rPr>
              <a:t>zation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90088" y="3451860"/>
            <a:ext cx="71323" cy="0"/>
          </a:xfrm>
          <a:prstGeom prst="bentConnector3">
            <a:avLst/>
          </a:prstGeom>
          <a:ln w="1778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072384" y="2926080"/>
            <a:ext cx="1170432" cy="105156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926080"/>
            <a:ext cx="117043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8EDF7"/>
                </a:solidFill>
                <a:latin typeface="Segoe UI"/>
              </a:rPr>
              <a:t>Detection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8EDF7"/>
                </a:solidFill>
                <a:latin typeface="Segoe UI"/>
              </a:rPr>
              <a:t>Rules · Stats · TI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42816" y="3451860"/>
            <a:ext cx="71323" cy="0"/>
          </a:xfrm>
          <a:prstGeom prst="bentConnector3">
            <a:avLst/>
          </a:prstGeom>
          <a:ln w="1778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25112" y="2926080"/>
            <a:ext cx="1170432" cy="105156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2926080"/>
            <a:ext cx="117043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8EDF7"/>
                </a:solidFill>
                <a:latin typeface="Segoe UI"/>
              </a:rPr>
              <a:t>Knowledge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8EDF7"/>
                </a:solidFill>
                <a:latin typeface="Segoe UI"/>
              </a:rPr>
              <a:t>Graph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95544" y="3451860"/>
            <a:ext cx="71323" cy="0"/>
          </a:xfrm>
          <a:prstGeom prst="bentConnector3">
            <a:avLst/>
          </a:prstGeom>
          <a:ln w="1778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577840" y="2926080"/>
            <a:ext cx="1170432" cy="105156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2926080"/>
            <a:ext cx="117043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8EDF7"/>
                </a:solidFill>
                <a:latin typeface="Segoe UI"/>
              </a:rPr>
              <a:t>Correlation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48272" y="3451860"/>
            <a:ext cx="71323" cy="0"/>
          </a:xfrm>
          <a:prstGeom prst="bentConnector3">
            <a:avLst/>
          </a:prstGeom>
          <a:ln w="1778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830568" y="2926080"/>
            <a:ext cx="1170432" cy="105156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568" y="2926080"/>
            <a:ext cx="117043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8EDF7"/>
                </a:solidFill>
                <a:latin typeface="Segoe UI"/>
              </a:rPr>
              <a:t>Attack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8EDF7"/>
                </a:solidFill>
                <a:latin typeface="Segoe UI"/>
              </a:rPr>
              <a:t>Graph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01000" y="3451860"/>
            <a:ext cx="71323" cy="0"/>
          </a:xfrm>
          <a:prstGeom prst="bentConnector3">
            <a:avLst/>
          </a:prstGeom>
          <a:ln w="1778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083296" y="2926080"/>
            <a:ext cx="1170432" cy="105156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6" y="2926080"/>
            <a:ext cx="117043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8EDF7"/>
                </a:solidFill>
                <a:latin typeface="Segoe UI"/>
              </a:rPr>
              <a:t>Risk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8EDF7"/>
                </a:solidFill>
                <a:latin typeface="Segoe UI"/>
              </a:rPr>
              <a:t>Scoring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53728" y="3451860"/>
            <a:ext cx="71323" cy="0"/>
          </a:xfrm>
          <a:prstGeom prst="bentConnector3">
            <a:avLst/>
          </a:prstGeom>
          <a:ln w="1778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336024" y="2926080"/>
            <a:ext cx="1170432" cy="1051560"/>
          </a:xfrm>
          <a:prstGeom prst="roundRect">
            <a:avLst>
              <a:gd name="adj" fmla="val 6000"/>
            </a:avLst>
          </a:prstGeom>
          <a:solidFill>
            <a:srgbClr val="141128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36024" y="2926080"/>
            <a:ext cx="117043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8EDF7"/>
                </a:solidFill>
                <a:latin typeface="Segoe UI"/>
              </a:rPr>
              <a:t>AI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8EDF7"/>
                </a:solidFill>
                <a:latin typeface="Segoe UI"/>
              </a:rPr>
              <a:t>Investigation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506456" y="3451860"/>
            <a:ext cx="71323" cy="0"/>
          </a:xfrm>
          <a:prstGeom prst="bentConnector3">
            <a:avLst/>
          </a:prstGeom>
          <a:ln w="1778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588752" y="2926080"/>
            <a:ext cx="1170432" cy="105156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88752" y="2926080"/>
            <a:ext cx="117043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8EDF7"/>
                </a:solidFill>
                <a:latin typeface="Segoe UI"/>
              </a:rPr>
              <a:t>Analyst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8EDF7"/>
                </a:solidFill>
                <a:latin typeface="Segoe UI"/>
              </a:rPr>
              <a:t>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23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BDF8"/>
                </a:solidFill>
                <a:latin typeface="Segoe UI"/>
              </a:rPr>
              <a:t>DETERMINISTIC  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36024" y="24231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18CF8"/>
                </a:solidFill>
                <a:latin typeface="Segoe UI"/>
              </a:rPr>
              <a:t>AI-ASSISTED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343400"/>
            <a:ext cx="11064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B97B0"/>
                </a:solidFill>
                <a:latin typeface="Segoe UI"/>
              </a:rPr>
              <a:t>Detection is fully explainable and reproducible. The knowledge graph turns telemetry into typed, time-stamped relationships, so correlation is a graph query — not a log search. The same pipeline object powers the REST API, the streaming worker, and the evaluation harness.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349240"/>
            <a:ext cx="3520440" cy="82296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5349240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EDF7"/>
                </a:solidFill>
                <a:latin typeface="Segoe UI"/>
              </a:rPr>
              <a:t>Rule-based: match / threshold / sequence DSL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70248" y="5349240"/>
            <a:ext cx="3520440" cy="82296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53128" y="5349240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EDF7"/>
                </a:solidFill>
                <a:latin typeface="Segoe UI"/>
              </a:rPr>
              <a:t>Statistical: login-hour, first-seen, robust z-score, rarity, entropy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73568" y="5349240"/>
            <a:ext cx="3520440" cy="82296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56448" y="5349240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EDF7"/>
                </a:solidFill>
                <a:latin typeface="Segoe UI"/>
              </a:rPr>
              <a:t>Threat intel: local IOC store from public feeds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108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846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Segoe UI"/>
              </a:rPr>
              <a:t>AEGIS  ·  AI-POWERED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7"/>
                </a:solidFill>
                <a:latin typeface="Segoe U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7B0"/>
                </a:solidFill>
                <a:latin typeface="Segoe UI"/>
              </a:rPr>
              <a:t>Self-hosted, containerized, no external dependencies.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Aegis — AI-Powered Cybersecurity Investigation &amp; Threat-Intelligence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12848"/>
            <a:ext cx="1554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B97B0"/>
                </a:solidFill>
                <a:latin typeface="Segoe UI"/>
              </a:rPr>
              <a:t>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19456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19456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Next.js / React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219456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19456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Overview · Incidents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0256" y="219456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0256" y="219456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Attack 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87384" y="219456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87384" y="219456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Copilot · Threat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35808"/>
            <a:ext cx="1554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B97B0"/>
                </a:solidFill>
                <a:latin typeface="Segoe UI"/>
              </a:rPr>
              <a:t>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01752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301752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FastAPI + JWT/RBAC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53128" y="301752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301752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Rate limit · Audit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0256" y="301752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0256" y="301752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Prometheus /metrics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87384" y="301752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87384" y="301752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OpenAPI /docs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858768"/>
            <a:ext cx="1554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B97B0"/>
                </a:solidFill>
                <a:latin typeface="Segoe UI"/>
              </a:rPr>
              <a:t>ENGINES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384048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384048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Detection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53128" y="384048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3128" y="384048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Correlation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0256" y="384048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0256" y="384048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Investigation (agents)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87384" y="384048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87384" y="384048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Threat Intel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681728"/>
            <a:ext cx="1554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B97B0"/>
                </a:solidFill>
                <a:latin typeface="Segoe UI"/>
              </a:rPr>
              <a:t>DATA / AI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466344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0" y="466344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PostgreSQL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53128" y="466344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53128" y="466344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Redis Streams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20256" y="466344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0256" y="466344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Knowledge Graph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87384" y="466344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87384" y="466344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E8EDF7"/>
                </a:solidFill>
                <a:latin typeface="Segoe UI"/>
              </a:rPr>
              <a:t>Ollama (local LLM)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400800" y="2852928"/>
            <a:ext cx="0" cy="164592"/>
          </a:xfrm>
          <a:prstGeom prst="bentConnector3">
            <a:avLst/>
          </a:prstGeom>
          <a:ln w="1524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400800" y="3675887"/>
            <a:ext cx="0" cy="164592"/>
          </a:xfrm>
          <a:prstGeom prst="bentConnector3">
            <a:avLst/>
          </a:prstGeom>
          <a:ln w="1524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400800" y="4498848"/>
            <a:ext cx="0" cy="164592"/>
          </a:xfrm>
          <a:prstGeom prst="bentConnector3">
            <a:avLst/>
          </a:prstGeom>
          <a:ln w="1524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8B97B0"/>
                </a:solidFill>
                <a:latin typeface="Segoe UI"/>
              </a:rPr>
              <a:t>Event producers → collector → message broker → stream processor → detection → correlation → security graph → investigation.  Runs entirely on a laptop via Docker Compose.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108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846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Segoe UI"/>
              </a:rPr>
              <a:t>AEGIS  ·  AI-POWERED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7"/>
                </a:solidFill>
                <a:latin typeface="Segoe UI"/>
              </a:rPr>
              <a:t>The killer feature: Attack-Story Reconstruction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7B0"/>
                </a:solidFill>
                <a:latin typeface="Segoe UI"/>
              </a:rPr>
              <a:t>Not a list of alerts — a graph. Click any node to inspect the underlying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Aegis — AI-Powered Cybersecurity Investigation &amp; Threat-Intelligence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1920240" cy="86868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DF7"/>
                </a:solidFill>
                <a:latin typeface="Segoe UI"/>
              </a:rPr>
              <a:t>User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DF7"/>
                </a:solidFill>
                <a:latin typeface="Segoe UI"/>
              </a:rPr>
              <a:t>alice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2743200"/>
            <a:ext cx="1920240" cy="86868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743200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DF7"/>
                </a:solidFill>
                <a:latin typeface="Segoe UI"/>
              </a:rPr>
              <a:t>Workstation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DF7"/>
                </a:solidFill>
                <a:latin typeface="Segoe UI"/>
              </a:rPr>
              <a:t>WS-042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743200"/>
            <a:ext cx="1920240" cy="86868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F973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743200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DF7"/>
                </a:solidFill>
                <a:latin typeface="Segoe UI"/>
              </a:rPr>
              <a:t>powershell.exe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DF7"/>
                </a:solidFill>
                <a:latin typeface="Segoe UI"/>
              </a:rPr>
              <a:t>(encoded)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920240"/>
            <a:ext cx="1920240" cy="86868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1920240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DF7"/>
                </a:solidFill>
                <a:latin typeface="Segoe UI"/>
              </a:rPr>
              <a:t>External IP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DF7"/>
                </a:solidFill>
                <a:latin typeface="Segoe UI"/>
              </a:rPr>
              <a:t>45.155.205.233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3566160"/>
            <a:ext cx="1920240" cy="86868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3566160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DF7"/>
                </a:solidFill>
                <a:latin typeface="Segoe UI"/>
              </a:rPr>
              <a:t>Exfil dest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DF7"/>
                </a:solidFill>
                <a:latin typeface="Segoe UI"/>
              </a:rPr>
              <a:t>23.106.223.55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4160520"/>
            <a:ext cx="1920240" cy="86868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4160520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DF7"/>
                </a:solidFill>
                <a:latin typeface="Segoe UI"/>
              </a:rPr>
              <a:t>export.zip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DF7"/>
                </a:solidFill>
                <a:latin typeface="Segoe UI"/>
              </a:rPr>
              <a:t>180 MB staged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43200" y="3177540"/>
            <a:ext cx="320040" cy="0"/>
          </a:xfrm>
          <a:prstGeom prst="bentConnector3">
            <a:avLst/>
          </a:prstGeom>
          <a:ln w="2159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83480" y="3177540"/>
            <a:ext cx="320040" cy="0"/>
          </a:xfrm>
          <a:prstGeom prst="bentConnector3">
            <a:avLst/>
          </a:prstGeom>
          <a:ln w="21590">
            <a:solidFill>
              <a:srgbClr val="F973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223760" y="2354580"/>
            <a:ext cx="320040" cy="822960"/>
          </a:xfrm>
          <a:prstGeom prst="bentConnector3">
            <a:avLst/>
          </a:prstGeom>
          <a:ln w="2159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223760" y="4000500"/>
            <a:ext cx="2560320" cy="507492"/>
          </a:xfrm>
          <a:prstGeom prst="bentConnector3">
            <a:avLst/>
          </a:prstGeom>
          <a:ln w="2159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263640" y="3611880"/>
            <a:ext cx="0" cy="548640"/>
          </a:xfrm>
          <a:prstGeom prst="bentConnector3">
            <a:avLst/>
          </a:prstGeom>
          <a:ln w="20320">
            <a:solidFill>
              <a:srgbClr val="EAB30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2528316"/>
            <a:ext cx="320040" cy="1255014"/>
          </a:xfrm>
          <a:prstGeom prst="bentConnector3">
            <a:avLst/>
          </a:prstGeom>
          <a:ln w="2159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543800" y="3310128"/>
            <a:ext cx="1778508" cy="292608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3328416"/>
            <a:ext cx="177850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E8EDF7"/>
                </a:solidFill>
                <a:latin typeface="Segoe UI"/>
              </a:rPr>
              <a:t>IOC: Cobalt Strike C2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4709160"/>
            <a:ext cx="1312164" cy="292608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4727448"/>
            <a:ext cx="131216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E8EDF7"/>
                </a:solidFill>
                <a:latin typeface="Segoe UI"/>
              </a:rPr>
              <a:t>IOC: exfil drop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486400"/>
            <a:ext cx="1234440" cy="292608"/>
          </a:xfrm>
          <a:prstGeom prst="roundRect">
            <a:avLst>
              <a:gd name="adj" fmla="val 6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504688"/>
            <a:ext cx="12344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A0E1A"/>
                </a:solidFill>
                <a:latin typeface="Segoe UI"/>
              </a:rPr>
              <a:t>Initial Access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40280" y="5486400"/>
            <a:ext cx="845820" cy="292608"/>
          </a:xfrm>
          <a:prstGeom prst="roundRect">
            <a:avLst>
              <a:gd name="adj" fmla="val 6000"/>
            </a:avLst>
          </a:prstGeom>
          <a:solidFill>
            <a:srgbClr val="F97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80" y="5504688"/>
            <a:ext cx="8458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A0E1A"/>
                </a:solidFill>
                <a:latin typeface="Segoe UI"/>
              </a:rPr>
              <a:t>Execution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68980" y="5486400"/>
            <a:ext cx="301752" cy="292608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68980" y="5504688"/>
            <a:ext cx="30175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A0E1A"/>
                </a:solidFill>
                <a:latin typeface="Segoe UI"/>
              </a:rPr>
              <a:t>C2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53612" y="5486400"/>
            <a:ext cx="923544" cy="292608"/>
          </a:xfrm>
          <a:prstGeom prst="roundRect">
            <a:avLst>
              <a:gd name="adj" fmla="val 6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53612" y="5504688"/>
            <a:ext cx="9235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A0E1A"/>
                </a:solidFill>
                <a:latin typeface="Segoe UI"/>
              </a:rPr>
              <a:t>Collection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60036" y="5486400"/>
            <a:ext cx="1078992" cy="292608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60036" y="5504688"/>
            <a:ext cx="107899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A0E1A"/>
                </a:solidFill>
                <a:latin typeface="Segoe UI"/>
              </a:rPr>
              <a:t>Exfiltration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B97B0"/>
                </a:solidFill>
                <a:latin typeface="Segoe UI"/>
              </a:rPr>
              <a:t>Nodes are entities (user · host · process · file · IP · IOC); edges are typed, time-stamped relationships carrying the events that justify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108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846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Segoe UI"/>
              </a:rPr>
              <a:t>AEGIS  ·  AI-POWERED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7"/>
                </a:solidFill>
                <a:latin typeface="Segoe UI"/>
              </a:rPr>
              <a:t>Detection depth: 58 rules across the MITRE ATT&amp;CK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7B0"/>
                </a:solidFill>
                <a:latin typeface="Segoe UI"/>
              </a:rPr>
              <a:t>Real security-domain coverage — not a thin AI wrapper.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Aegis — AI-Powered Cybersecurity Investigation &amp; Threat-Intelligence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07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2286000"/>
          <a:ext cx="73152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0" y="2286000"/>
            <a:ext cx="3291840" cy="86868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28600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8BDF8"/>
                </a:solidFill>
                <a:latin typeface="Segoe UI"/>
              </a:rPr>
              <a:t>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2286000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97B0"/>
                </a:solidFill>
                <a:latin typeface="Segoe UI"/>
              </a:rPr>
              <a:t>detection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273552"/>
            <a:ext cx="3291840" cy="86868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3273552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18CF8"/>
                </a:solidFill>
                <a:latin typeface="Segoe UI"/>
              </a:rPr>
              <a:t>69/80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273552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97B0"/>
                </a:solidFill>
                <a:latin typeface="Segoe UI"/>
              </a:rPr>
              <a:t>ATT&amp;CK techniques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261104"/>
            <a:ext cx="3291840" cy="86868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4261104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2C55E"/>
                </a:solidFill>
                <a:latin typeface="Segoe UI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4261104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97B0"/>
                </a:solidFill>
                <a:latin typeface="Segoe UI"/>
              </a:rPr>
              <a:t>kill-chain phases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5248656"/>
            <a:ext cx="3291840" cy="86868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5248656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9730B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5248656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97B0"/>
                </a:solidFill>
                <a:latin typeface="Segoe UI"/>
              </a:rPr>
              <a:t>detection methods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108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846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Segoe UI"/>
              </a:rPr>
              <a:t>AEGIS  ·  AI-POWERED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7"/>
                </a:solidFill>
                <a:latin typeface="Segoe UI"/>
              </a:rPr>
              <a:t>AI Investigation: specialized agents, grounded in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7B0"/>
                </a:solidFill>
                <a:latin typeface="Segoe UI"/>
              </a:rPr>
              <a:t>Division of labor — not agents chatting because multi-agent sounds cool.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Aegis — AI-Powered Cybersecurity Investigation &amp; Threat-Intelligence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2148840"/>
            <a:ext cx="2103120" cy="640080"/>
          </a:xfrm>
          <a:prstGeom prst="roundRect">
            <a:avLst>
              <a:gd name="adj" fmla="val 6000"/>
            </a:avLst>
          </a:prstGeom>
          <a:solidFill>
            <a:srgbClr val="141128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14884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DF7"/>
                </a:solidFill>
                <a:latin typeface="Segoe UI"/>
              </a:rPr>
              <a:t>Investigation Planner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00400"/>
            <a:ext cx="2377440" cy="6858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8EDF7"/>
                </a:solidFill>
                <a:latin typeface="Segoe UI"/>
              </a:rPr>
              <a:t>Identity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8EDF7"/>
                </a:solidFill>
                <a:latin typeface="Segoe UI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3192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B97B0"/>
                </a:solidFill>
                <a:latin typeface="Segoe UI"/>
              </a:rPr>
              <a:t>auth · accounts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B97B0"/>
                </a:solidFill>
                <a:latin typeface="Segoe UI"/>
              </a:rPr>
              <a:t>· privilege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057400" y="2788920"/>
            <a:ext cx="4069080" cy="411480"/>
          </a:xfrm>
          <a:prstGeom prst="bentConnector3">
            <a:avLst/>
          </a:prstGeom>
          <a:ln w="1524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30168" y="3200400"/>
            <a:ext cx="2377440" cy="6858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320040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8EDF7"/>
                </a:solidFill>
                <a:latin typeface="Segoe UI"/>
              </a:rPr>
              <a:t>Process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8EDF7"/>
                </a:solidFill>
                <a:latin typeface="Segoe UI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93192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B97B0"/>
                </a:solidFill>
                <a:latin typeface="Segoe UI"/>
              </a:rPr>
              <a:t>execution ·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B97B0"/>
                </a:solidFill>
                <a:latin typeface="Segoe UI"/>
              </a:rPr>
              <a:t>LOLBins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818888" y="2788920"/>
            <a:ext cx="1307592" cy="411480"/>
          </a:xfrm>
          <a:prstGeom prst="bentConnector3">
            <a:avLst/>
          </a:prstGeom>
          <a:ln w="1524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91656" y="3200400"/>
            <a:ext cx="2377440" cy="6858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320040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8EDF7"/>
                </a:solidFill>
                <a:latin typeface="Segoe UI"/>
              </a:rPr>
              <a:t>Network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8EDF7"/>
                </a:solidFill>
                <a:latin typeface="Segoe UI"/>
              </a:rPr>
              <a:t>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393192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B97B0"/>
                </a:solidFill>
                <a:latin typeface="Segoe UI"/>
              </a:rPr>
              <a:t>C2 · DNS ·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B97B0"/>
                </a:solidFill>
                <a:latin typeface="Segoe UI"/>
              </a:rPr>
              <a:t>exfiltration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26480" y="2788920"/>
            <a:ext cx="1453896" cy="411480"/>
          </a:xfrm>
          <a:prstGeom prst="bentConnector3">
            <a:avLst/>
          </a:prstGeom>
          <a:ln w="1524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53144" y="3200400"/>
            <a:ext cx="2377440" cy="6858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3144" y="320040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8EDF7"/>
                </a:solidFill>
                <a:latin typeface="Segoe UI"/>
              </a:rPr>
              <a:t>File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8EDF7"/>
                </a:solidFill>
                <a:latin typeface="Segoe UI"/>
              </a:rPr>
              <a:t>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393192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B97B0"/>
                </a:solidFill>
                <a:latin typeface="Segoe UI"/>
              </a:rPr>
              <a:t>staging ·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B97B0"/>
                </a:solidFill>
                <a:latin typeface="Segoe UI"/>
              </a:rPr>
              <a:t>encryption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0" y="2788920"/>
            <a:ext cx="4215384" cy="411480"/>
          </a:xfrm>
          <a:prstGeom prst="bentConnector3">
            <a:avLst/>
          </a:prstGeom>
          <a:ln w="1524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566160" y="4526280"/>
            <a:ext cx="2286000" cy="566928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4526280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E8EDF7"/>
                </a:solidFill>
                <a:latin typeface="Segoe UI"/>
              </a:rPr>
              <a:t>Evidence + Reconstruction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057400" y="4389120"/>
            <a:ext cx="2651760" cy="137160"/>
          </a:xfrm>
          <a:prstGeom prst="bentConnector3">
            <a:avLst/>
          </a:prstGeom>
          <a:ln w="1270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4709160" y="4389120"/>
            <a:ext cx="109728" cy="137160"/>
          </a:xfrm>
          <a:prstGeom prst="bentConnector3">
            <a:avLst/>
          </a:prstGeom>
          <a:ln w="1270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709160" y="4389120"/>
            <a:ext cx="2871216" cy="137160"/>
          </a:xfrm>
          <a:prstGeom prst="bentConnector3">
            <a:avLst/>
          </a:prstGeom>
          <a:ln w="1270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4709160" y="4389120"/>
            <a:ext cx="5632704" cy="137160"/>
          </a:xfrm>
          <a:prstGeom prst="bentConnector3">
            <a:avLst/>
          </a:prstGeom>
          <a:ln w="1270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126480" y="4526280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141128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452628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DF7"/>
                </a:solidFill>
                <a:latin typeface="Segoe UI"/>
              </a:rPr>
              <a:t>AI Synthesizer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852160" y="4809744"/>
            <a:ext cx="274320" cy="0"/>
          </a:xfrm>
          <a:prstGeom prst="bentConnector3">
            <a:avLst/>
          </a:prstGeom>
          <a:ln w="17780">
            <a:solidFill>
              <a:srgbClr val="818C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595360" y="4526280"/>
            <a:ext cx="2651760" cy="566928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4526280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2C55E"/>
                </a:solidFill>
                <a:latin typeface="Segoe UI"/>
              </a:rPr>
              <a:t>Grounding Validator ✓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321040" y="4809744"/>
            <a:ext cx="274320" cy="0"/>
          </a:xfrm>
          <a:prstGeom prst="bentConnector3">
            <a:avLst/>
          </a:prstGeom>
          <a:ln w="17780">
            <a:solidFill>
              <a:srgbClr val="22C5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7B0"/>
                </a:solidFill>
                <a:latin typeface="Segoe UI"/>
              </a:rPr>
              <a:t>Every event ID the model cites must exist in the incident's evidence. Fabricated citations are dropped and the narrative falls back to a deterministic one — so a hallucinating or prompt-injected model cannot mislead the analyst.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108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846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Segoe UI"/>
              </a:rPr>
              <a:t>AEGIS  ·  AI-POWERED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7"/>
                </a:solidFill>
                <a:latin typeface="Segoe UI"/>
              </a:rPr>
              <a:t>A security product that is itself secure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7B0"/>
                </a:solidFill>
                <a:latin typeface="Segoe UI"/>
              </a:rPr>
              <a:t>Aegis consumes attacker-controlled text — so prompt injection is an architectural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Aegis — AI-Powered Cybersecurity Investigation &amp; Threat-Intelligence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240280"/>
          <a:ext cx="10881359" cy="338327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70171"/>
                <a:gridCol w="6311188"/>
              </a:tblGrid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8BDF8"/>
                          </a:solidFill>
                          <a:latin typeface="Segoe UI"/>
                        </a:rPr>
                        <a:t>Threat</a:t>
                      </a:r>
                    </a:p>
                  </a:txBody>
                  <a:tcPr marL="73152" marR="45720" marT="18288" marB="18288" anchor="ctr">
                    <a:solidFill>
                      <a:srgbClr val="1B2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Segoe UI"/>
                        </a:rPr>
                        <a:t>Mitigation in Aegis</a:t>
                      </a:r>
                    </a:p>
                  </a:txBody>
                  <a:tcPr marL="73152" marR="45720" marT="18288" marB="18288" anchor="ctr">
                    <a:solidFill>
                      <a:srgbClr val="1B243D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8EDF7"/>
                          </a:solidFill>
                          <a:latin typeface="Segoe UI"/>
                        </a:rPr>
                        <a:t>Malicious / oversized event payload</a:t>
                      </a:r>
                    </a:p>
                  </a:txBody>
                  <a:tcPr marL="73152" marR="45720" marT="18288" marB="18288" anchor="ctr">
                    <a:solidFill>
                      <a:srgbClr val="1118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8EDF7"/>
                          </a:solidFill>
                          <a:latin typeface="Segoe UI"/>
                        </a:rPr>
                        <a:t>Strict schema, size &amp; batch limits, per-field length caps</a:t>
                      </a:r>
                    </a:p>
                  </a:txBody>
                  <a:tcPr marL="73152" marR="45720" marT="18288" marB="18288" anchor="ctr">
                    <a:solidFill>
                      <a:srgbClr val="11182B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8EDF7"/>
                          </a:solidFill>
                          <a:latin typeface="Segoe UI"/>
                        </a:rPr>
                        <a:t>Prompt injection inside telemetry</a:t>
                      </a:r>
                    </a:p>
                  </a:txBody>
                  <a:tcPr marL="73152" marR="45720" marT="18288" marB="18288" anchor="ctr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8EDF7"/>
                          </a:solidFill>
                          <a:latin typeface="Segoe UI"/>
                        </a:rPr>
                        <a:t>Neutralize + fence untrusted text; validate AI output vs. real evidence IDs</a:t>
                      </a:r>
                    </a:p>
                  </a:txBody>
                  <a:tcPr marL="73152" marR="45720" marT="18288" marB="18288" anchor="ctr">
                    <a:solidFill>
                      <a:srgbClr val="0E1424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8EDF7"/>
                          </a:solidFill>
                          <a:latin typeface="Segoe UI"/>
                        </a:rPr>
                        <a:t>AI attempts unauthorized action</a:t>
                      </a:r>
                    </a:p>
                  </a:txBody>
                  <a:tcPr marL="73152" marR="45720" marT="18288" marB="18288" anchor="ctr">
                    <a:solidFill>
                      <a:srgbClr val="1118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8EDF7"/>
                          </a:solidFill>
                          <a:latin typeface="Segoe UI"/>
                        </a:rPr>
                        <a:t>LLM has no tools — it only emits text; detection is deterministic</a:t>
                      </a:r>
                    </a:p>
                  </a:txBody>
                  <a:tcPr marL="73152" marR="45720" marT="18288" marB="18288" anchor="ctr">
                    <a:solidFill>
                      <a:srgbClr val="11182B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8EDF7"/>
                          </a:solidFill>
                          <a:latin typeface="Segoe UI"/>
                        </a:rPr>
                        <a:t>Audit tampering</a:t>
                      </a:r>
                    </a:p>
                  </a:txBody>
                  <a:tcPr marL="73152" marR="45720" marT="18288" marB="18288" anchor="ctr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8EDF7"/>
                          </a:solidFill>
                          <a:latin typeface="Segoe UI"/>
                        </a:rPr>
                        <a:t>Hash-chained, append-only audit log with verification</a:t>
                      </a:r>
                    </a:p>
                  </a:txBody>
                  <a:tcPr marL="73152" marR="45720" marT="18288" marB="18288" anchor="ctr">
                    <a:solidFill>
                      <a:srgbClr val="0E1424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8EDF7"/>
                          </a:solidFill>
                          <a:latin typeface="Segoe UI"/>
                        </a:rPr>
                        <a:t>AuthN / AuthZ</a:t>
                      </a:r>
                    </a:p>
                  </a:txBody>
                  <a:tcPr marL="73152" marR="45720" marT="18288" marB="18288" anchor="ctr">
                    <a:solidFill>
                      <a:srgbClr val="1118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8EDF7"/>
                          </a:solidFill>
                          <a:latin typeface="Segoe UI"/>
                        </a:rPr>
                        <a:t>JWT + RBAC (viewer/analyst/admin), API-key ingest, constant-time compare</a:t>
                      </a:r>
                    </a:p>
                  </a:txBody>
                  <a:tcPr marL="73152" marR="45720" marT="18288" marB="18288" anchor="ctr">
                    <a:solidFill>
                      <a:srgbClr val="11182B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8EDF7"/>
                          </a:solidFill>
                          <a:latin typeface="Segoe UI"/>
                        </a:rPr>
                        <a:t>ReDoS on hostile regex input</a:t>
                      </a:r>
                    </a:p>
                  </a:txBody>
                  <a:tcPr marL="73152" marR="45720" marT="18288" marB="18288" anchor="ctr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8EDF7"/>
                          </a:solidFill>
                          <a:latin typeface="Segoe UI"/>
                        </a:rPr>
                        <a:t>Regex input capped; rule errors isolated per-rule</a:t>
                      </a:r>
                    </a:p>
                  </a:txBody>
                  <a:tcPr marL="73152" marR="45720" marT="18288" marB="18288" anchor="ctr">
                    <a:solidFill>
                      <a:srgbClr val="0E142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818CF8"/>
                </a:solidFill>
                <a:latin typeface="Segoe UI"/>
              </a:rPr>
              <a:t>Defense-in-depth: prevention (fencing) reduces the chance of a successful injection; validation (grounding) contains the blast radius if one gets through.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108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846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Segoe UI"/>
              </a:rPr>
              <a:t>AEGIS  ·  AI-POWERED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7"/>
                </a:solidFill>
                <a:latin typeface="Segoe UI"/>
              </a:rPr>
              <a:t>Evaluation: a reproducible benchmark, not a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7B0"/>
                </a:solidFill>
                <a:latin typeface="Segoe UI"/>
              </a:rPr>
              <a:t>Seed 1337 · 30,496 events · deterministic · the LLM touches none of these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Aegis — AI-Powered Cybersecurity Investigation &amp; Threat-Intelligence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▸ </a:t>
            </a:r>
            <a:r>
              <a:rPr sz="1250" b="1">
                <a:solidFill>
                  <a:srgbClr val="E8EDF7"/>
                </a:solidFill>
                <a:latin typeface="Segoe UI"/>
              </a:rPr>
              <a:t>Synthetic 60-user enterprise </a:t>
            </a:r>
            <a:r>
              <a:rPr sz="1250">
                <a:solidFill>
                  <a:srgbClr val="E8EDF7"/>
                </a:solidFill>
                <a:latin typeface="Segoe UI"/>
              </a:rPr>
              <a:t>— workstations, servers, SaaS destinations, realistic daily rhythm.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▸ </a:t>
            </a:r>
            <a:r>
              <a:rPr sz="1250" b="1">
                <a:solidFill>
                  <a:srgbClr val="E8EDF7"/>
                </a:solidFill>
                <a:latin typeface="Segoe UI"/>
              </a:rPr>
              <a:t>23,047-event benign baseline </a:t>
            </a:r>
            <a:r>
              <a:rPr sz="1250">
                <a:solidFill>
                  <a:srgbClr val="E8EDF7"/>
                </a:solidFill>
                <a:latin typeface="Segoe UI"/>
              </a:rPr>
              <a:t>trains the statistical detectors before any attack runs.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▸ </a:t>
            </a:r>
            <a:r>
              <a:rPr sz="1250" b="1">
                <a:solidFill>
                  <a:srgbClr val="E8EDF7"/>
                </a:solidFill>
                <a:latin typeface="Segoe UI"/>
              </a:rPr>
              <a:t>8 attack scenarios (A–H) </a:t>
            </a:r>
            <a:r>
              <a:rPr sz="1250">
                <a:solidFill>
                  <a:srgbClr val="E8EDF7"/>
                </a:solidFill>
                <a:latin typeface="Segoe UI"/>
              </a:rPr>
              <a:t>— brute force, malicious macro, priv-esc, lateral movement, ransomware, DNS tunneling, exfiltration.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▸ </a:t>
            </a:r>
            <a:r>
              <a:rPr sz="1250" b="1">
                <a:solidFill>
                  <a:srgbClr val="E8EDF7"/>
                </a:solidFill>
                <a:latin typeface="Segoe UI"/>
              </a:rPr>
              <a:t>Hard negatives </a:t>
            </a:r>
            <a:r>
              <a:rPr sz="1250">
                <a:solidFill>
                  <a:srgbClr val="E8EDF7"/>
                </a:solidFill>
                <a:latin typeface="Segoe UI"/>
              </a:rPr>
              <a:t>— admins running admin tools, devs running PowerShell, travelers abroad, 500 MB OneDrive uploads.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▸ </a:t>
            </a:r>
            <a:r>
              <a:rPr sz="1250" b="1">
                <a:solidFill>
                  <a:srgbClr val="E8EDF7"/>
                </a:solidFill>
                <a:latin typeface="Segoe UI"/>
              </a:rPr>
              <a:t>100 attack + 100 benign runs </a:t>
            </a:r>
            <a:r>
              <a:rPr sz="1250">
                <a:solidFill>
                  <a:srgbClr val="E8EDF7"/>
                </a:solidFill>
                <a:latin typeface="Segoe UI"/>
              </a:rPr>
              <a:t>scored against ground truth.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9659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Segoe UI"/>
              </a:rPr>
              <a:t>Confusion matrix (200 runs)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37744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6060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C55E"/>
                </a:solidFill>
                <a:latin typeface="Segoe UI"/>
              </a:rPr>
              <a:t>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017520"/>
            <a:ext cx="2011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E8EDF7"/>
                </a:solidFill>
                <a:latin typeface="Segoe UI"/>
              </a:rPr>
              <a:t>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37744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26060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F4444"/>
                </a:solidFill>
                <a:latin typeface="Segoe UI"/>
              </a:rPr>
              <a:t>FN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3017520"/>
            <a:ext cx="2011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E8EDF7"/>
                </a:solidFill>
                <a:latin typeface="Segoe UI"/>
              </a:rPr>
              <a:t>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457200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F973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8006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9730B"/>
                </a:solidFill>
                <a:latin typeface="Segoe UI"/>
              </a:rPr>
              <a:t>FP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212080"/>
            <a:ext cx="2011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E8EDF7"/>
                </a:solidFill>
                <a:latin typeface="Segoe UI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457200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48006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C55E"/>
                </a:solidFill>
                <a:latin typeface="Segoe UI"/>
              </a:rPr>
              <a:t>TN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5212080"/>
            <a:ext cx="2011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E8EDF7"/>
                </a:solidFill>
                <a:latin typeface="Segoe UI"/>
              </a:rPr>
              <a:t>98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108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846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Segoe UI"/>
              </a:rPr>
              <a:t>AEGIS  ·  AI-POWERED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7"/>
                </a:solidFill>
                <a:latin typeface="Segoe U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7B0"/>
                </a:solidFill>
                <a:latin typeface="Segoe UI"/>
              </a:rPr>
              <a:t>On the committed 100-attack / 100-benign benchmark.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Aegis — AI-Powered Cybersecurity Investigation &amp; Threat-Intelligence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2670048" cy="16002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14016"/>
            <a:ext cx="26700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22C55E"/>
                </a:solidFill>
                <a:latin typeface="Segoe U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19272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B0"/>
                </a:solidFill>
                <a:latin typeface="Segoe UI"/>
              </a:rPr>
              <a:t>Detection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286000"/>
            <a:ext cx="2670048" cy="16002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414016"/>
            <a:ext cx="26700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38BDF8"/>
                </a:solidFill>
                <a:latin typeface="Segoe UI"/>
              </a:rPr>
              <a:t>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319272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B0"/>
                </a:solidFill>
                <a:latin typeface="Segoe UI"/>
              </a:rPr>
              <a:t>False-positive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86000"/>
            <a:ext cx="2670048" cy="16002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414016"/>
            <a:ext cx="26700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818CF8"/>
                </a:solidFill>
                <a:latin typeface="Segoe UI"/>
              </a:rPr>
              <a:t>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319272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B0"/>
                </a:solidFill>
                <a:latin typeface="Segoe UI"/>
              </a:rPr>
              <a:t>F1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286000"/>
            <a:ext cx="2670048" cy="16002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414016"/>
            <a:ext cx="26700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38BDF8"/>
                </a:solidFill>
                <a:latin typeface="Segoe UI"/>
              </a:rPr>
              <a:t>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319272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B0"/>
                </a:solidFill>
                <a:latin typeface="Segoe UI"/>
              </a:rPr>
              <a:t>Attack-chain reconstruction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14800"/>
            <a:ext cx="2670048" cy="16002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42816"/>
            <a:ext cx="26700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818CF8"/>
                </a:solidFill>
                <a:latin typeface="Segoe UI"/>
              </a:rPr>
              <a:t>87%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148072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B0"/>
                </a:solidFill>
                <a:latin typeface="Segoe UI"/>
              </a:rPr>
              <a:t>MITRE technique recall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4114800"/>
            <a:ext cx="2670048" cy="16002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4242816"/>
            <a:ext cx="26700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22C55E"/>
                </a:solidFill>
                <a:latin typeface="Segoe UI"/>
              </a:rPr>
              <a:t>83%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148072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B0"/>
                </a:solidFill>
                <a:latin typeface="Segoe UI"/>
              </a:rPr>
              <a:t>IOC correlation accuracy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114800"/>
            <a:ext cx="2670048" cy="16002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4242816"/>
            <a:ext cx="26700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38BDF8"/>
                </a:solidFill>
                <a:latin typeface="Segoe UI"/>
              </a:rPr>
              <a:t>73%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148072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B0"/>
                </a:solidFill>
                <a:latin typeface="Segoe UI"/>
              </a:rPr>
              <a:t>Evidence coverage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4114800"/>
            <a:ext cx="2670048" cy="16002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4242816"/>
            <a:ext cx="26700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818CF8"/>
                </a:solidFill>
                <a:latin typeface="Segoe UI"/>
              </a:rPr>
              <a:t>98%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5148072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B0"/>
                </a:solidFill>
                <a:latin typeface="Segoe UI"/>
              </a:rPr>
              <a:t>Precision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8B97B0"/>
                </a:solidFill>
                <a:latin typeface="Segoe UI"/>
              </a:rPr>
              <a:t>Detection latency: mean 767 ms · p95 2269 ms (full re-correlation per batch).  Detection engine sustains sub-millisecond per-event processing. All numbers reproducible via `make eval`.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108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846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Segoe UI"/>
              </a:rPr>
              <a:t>AEGIS  ·  AI-POWERED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7"/>
                </a:solidFill>
                <a:latin typeface="Segoe UI"/>
              </a:rPr>
              <a:t>Per-scenario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7B0"/>
                </a:solidFill>
                <a:latin typeface="Segoe UI"/>
              </a:rPr>
              <a:t>Detection is perfect across all eight attack classes; reconstruction stays high.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Aegis — AI-Powered Cybersecurity Investigation &amp; Threat-Intelligence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12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2286000"/>
          <a:ext cx="7498079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321040" y="228600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BDF8"/>
                </a:solidFill>
                <a:latin typeface="Segoe UI"/>
              </a:rPr>
              <a:t>Scenarios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6974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8EDF7"/>
                </a:solidFill>
                <a:latin typeface="Segoe UI"/>
              </a:rPr>
              <a:t>A  ·  Brute force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11810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8EDF7"/>
                </a:solidFill>
                <a:latin typeface="Segoe UI"/>
              </a:rPr>
              <a:t>B  ·  Suspicious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53872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8EDF7"/>
                </a:solidFill>
                <a:latin typeface="Segoe UI"/>
              </a:rPr>
              <a:t>C  ·  Malicious macro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5935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8EDF7"/>
                </a:solidFill>
                <a:latin typeface="Segoe UI"/>
              </a:rPr>
              <a:t>D  ·  Priv-esc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379976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8EDF7"/>
                </a:solidFill>
                <a:latin typeface="Segoe UI"/>
              </a:rPr>
              <a:t>E  ·  Lateral move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8006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8EDF7"/>
                </a:solidFill>
                <a:latin typeface="Segoe UI"/>
              </a:rPr>
              <a:t>F  ·  Ransomware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22122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8EDF7"/>
                </a:solidFill>
                <a:latin typeface="Segoe UI"/>
              </a:rPr>
              <a:t>G  ·  DNS tunnel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64184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8EDF7"/>
                </a:solidFill>
                <a:latin typeface="Segoe UI"/>
              </a:rPr>
              <a:t>H  ·  Exfiltration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108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846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Segoe UI"/>
              </a:rPr>
              <a:t>AEGIS  ·  AI-POWERED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7"/>
                </a:solidFill>
                <a:latin typeface="Segoe UI"/>
              </a:rPr>
              <a:t>Where detections come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7B0"/>
                </a:solidFill>
                <a:latin typeface="Segoe UI"/>
              </a:rPr>
              <a:t>A layered defense — no single method carries the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Aegis — AI-Powered Cybersecurity Investigation &amp; Threat-Intelligence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13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2377440"/>
          <a:ext cx="51206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265176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▸ </a:t>
            </a:r>
            <a:r>
              <a:rPr sz="1250" b="1">
                <a:solidFill>
                  <a:srgbClr val="E8EDF7"/>
                </a:solidFill>
                <a:latin typeface="Segoe UI"/>
              </a:rPr>
              <a:t>Behavioral sequences </a:t>
            </a:r>
            <a:r>
              <a:rPr sz="1250">
                <a:solidFill>
                  <a:srgbClr val="E8EDF7"/>
                </a:solidFill>
                <a:latin typeface="Segoe UI"/>
              </a:rPr>
              <a:t>catch multi-step attacks that any single event would miss.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▸ </a:t>
            </a:r>
            <a:r>
              <a:rPr sz="1250" b="1">
                <a:solidFill>
                  <a:srgbClr val="E8EDF7"/>
                </a:solidFill>
                <a:latin typeface="Segoe UI"/>
              </a:rPr>
              <a:t>Rules </a:t>
            </a:r>
            <a:r>
              <a:rPr sz="1250">
                <a:solidFill>
                  <a:srgbClr val="E8EDF7"/>
                </a:solidFill>
                <a:latin typeface="Segoe UI"/>
              </a:rPr>
              <a:t>encode known-bad techniques (encoded PowerShell, LSASS dumping, shadow-copy deletion).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▸ </a:t>
            </a:r>
            <a:r>
              <a:rPr sz="1250" b="1">
                <a:solidFill>
                  <a:srgbClr val="E8EDF7"/>
                </a:solidFill>
                <a:latin typeface="Segoe UI"/>
              </a:rPr>
              <a:t>Statistical baselines </a:t>
            </a:r>
            <a:r>
              <a:rPr sz="1250">
                <a:solidFill>
                  <a:srgbClr val="E8EDF7"/>
                </a:solidFill>
                <a:latin typeface="Segoe UI"/>
              </a:rPr>
              <a:t>flag the never-before-seen: odd login hours, new geographies, egress spikes.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▸ </a:t>
            </a:r>
            <a:r>
              <a:rPr sz="1250" b="1">
                <a:solidFill>
                  <a:srgbClr val="E8EDF7"/>
                </a:solidFill>
                <a:latin typeface="Segoe UI"/>
              </a:rPr>
              <a:t>Threat intel </a:t>
            </a:r>
            <a:r>
              <a:rPr sz="1250">
                <a:solidFill>
                  <a:srgbClr val="E8EDF7"/>
                </a:solidFill>
                <a:latin typeface="Segoe UI"/>
              </a:rPr>
              <a:t>confirms known-malicious IPs, domains and hashes from public feeds — ₹0 cost.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108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846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Segoe UI"/>
              </a:rPr>
              <a:t>AEGIS  ·  AI-POWERED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7"/>
                </a:solidFill>
                <a:latin typeface="Segoe UI"/>
              </a:rPr>
              <a:t>Why this is different — and 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7B0"/>
                </a:solidFill>
                <a:latin typeface="Segoe UI"/>
              </a:rPr>
              <a:t>Three deep products across three engineering domains.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Aegis — AI-Powered Cybersecurity Investigation &amp; Threat-Intelligence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240280"/>
          <a:ext cx="7315200" cy="356615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87168"/>
                <a:gridCol w="2633472"/>
                <a:gridCol w="2194560"/>
              </a:tblGrid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38BDF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45720" marT="18288" marB="18288" anchor="ctr">
                    <a:solidFill>
                      <a:srgbClr val="1B2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38BDF8"/>
                          </a:solidFill>
                          <a:latin typeface="Segoe UI"/>
                        </a:rPr>
                        <a:t>Aegis</a:t>
                      </a:r>
                    </a:p>
                  </a:txBody>
                  <a:tcPr marL="73152" marR="45720" marT="18288" marB="18288" anchor="ctr">
                    <a:solidFill>
                      <a:srgbClr val="1B2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38BDF8"/>
                          </a:solidFill>
                          <a:latin typeface="Segoe UI"/>
                        </a:rPr>
                        <a:t>Typical "AI + logs" tool</a:t>
                      </a:r>
                    </a:p>
                  </a:txBody>
                  <a:tcPr marL="73152" marR="45720" marT="18288" marB="18288" anchor="ctr">
                    <a:solidFill>
                      <a:srgbClr val="1B243D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8EDF7"/>
                          </a:solidFill>
                          <a:latin typeface="Segoe UI"/>
                        </a:rPr>
                        <a:t>Who decides malice</a:t>
                      </a:r>
                    </a:p>
                  </a:txBody>
                  <a:tcPr marL="73152" marR="45720" marT="18288" marB="18288" anchor="ctr">
                    <a:solidFill>
                      <a:srgbClr val="1118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8EDF7"/>
                          </a:solidFill>
                          <a:latin typeface="Segoe UI"/>
                        </a:rPr>
                        <a:t>Deterministic engines</a:t>
                      </a:r>
                    </a:p>
                  </a:txBody>
                  <a:tcPr marL="73152" marR="45720" marT="18288" marB="18288" anchor="ctr">
                    <a:solidFill>
                      <a:srgbClr val="1118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8EDF7"/>
                          </a:solidFill>
                          <a:latin typeface="Segoe UI"/>
                        </a:rPr>
                        <a:t>The LLM (guesses)</a:t>
                      </a:r>
                    </a:p>
                  </a:txBody>
                  <a:tcPr marL="73152" marR="45720" marT="18288" marB="18288" anchor="ctr">
                    <a:solidFill>
                      <a:srgbClr val="11182B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8EDF7"/>
                          </a:solidFill>
                          <a:latin typeface="Segoe UI"/>
                        </a:rPr>
                        <a:t>Output</a:t>
                      </a:r>
                    </a:p>
                  </a:txBody>
                  <a:tcPr marL="73152" marR="45720" marT="18288" marB="18288" anchor="ctr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8EDF7"/>
                          </a:solidFill>
                          <a:latin typeface="Segoe UI"/>
                        </a:rPr>
                        <a:t>Reconstructed attack graph</a:t>
                      </a:r>
                    </a:p>
                  </a:txBody>
                  <a:tcPr marL="73152" marR="45720" marT="18288" marB="18288" anchor="ctr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8EDF7"/>
                          </a:solidFill>
                          <a:latin typeface="Segoe UI"/>
                        </a:rPr>
                        <a:t>A wall of alerts</a:t>
                      </a:r>
                    </a:p>
                  </a:txBody>
                  <a:tcPr marL="73152" marR="45720" marT="18288" marB="18288" anchor="ctr">
                    <a:solidFill>
                      <a:srgbClr val="0E1424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8EDF7"/>
                          </a:solidFill>
                          <a:latin typeface="Segoe UI"/>
                        </a:rPr>
                        <a:t>Trust</a:t>
                      </a:r>
                    </a:p>
                  </a:txBody>
                  <a:tcPr marL="73152" marR="45720" marT="18288" marB="18288" anchor="ctr">
                    <a:solidFill>
                      <a:srgbClr val="1118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8EDF7"/>
                          </a:solidFill>
                          <a:latin typeface="Segoe UI"/>
                        </a:rPr>
                        <a:t>Every claim cites real evidence</a:t>
                      </a:r>
                    </a:p>
                  </a:txBody>
                  <a:tcPr marL="73152" marR="45720" marT="18288" marB="18288" anchor="ctr">
                    <a:solidFill>
                      <a:srgbClr val="1118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8EDF7"/>
                          </a:solidFill>
                          <a:latin typeface="Segoe UI"/>
                        </a:rPr>
                        <a:t>Unverifiable prose</a:t>
                      </a:r>
                    </a:p>
                  </a:txBody>
                  <a:tcPr marL="73152" marR="45720" marT="18288" marB="18288" anchor="ctr">
                    <a:solidFill>
                      <a:srgbClr val="11182B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8EDF7"/>
                          </a:solidFill>
                          <a:latin typeface="Segoe UI"/>
                        </a:rPr>
                        <a:t>Prompt injection</a:t>
                      </a:r>
                    </a:p>
                  </a:txBody>
                  <a:tcPr marL="73152" marR="45720" marT="18288" marB="18288" anchor="ctr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8EDF7"/>
                          </a:solidFill>
                          <a:latin typeface="Segoe UI"/>
                        </a:rPr>
                        <a:t>Architectural defense-in-depth</a:t>
                      </a:r>
                    </a:p>
                  </a:txBody>
                  <a:tcPr marL="73152" marR="45720" marT="18288" marB="18288" anchor="ctr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8EDF7"/>
                          </a:solidFill>
                          <a:latin typeface="Segoe UI"/>
                        </a:rPr>
                        <a:t>Usually ignored</a:t>
                      </a:r>
                    </a:p>
                  </a:txBody>
                  <a:tcPr marL="73152" marR="45720" marT="18288" marB="18288" anchor="ctr">
                    <a:solidFill>
                      <a:srgbClr val="0E1424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8EDF7"/>
                          </a:solidFill>
                          <a:latin typeface="Segoe UI"/>
                        </a:rPr>
                        <a:t>Cost</a:t>
                      </a:r>
                    </a:p>
                  </a:txBody>
                  <a:tcPr marL="73152" marR="45720" marT="18288" marB="18288" anchor="ctr">
                    <a:solidFill>
                      <a:srgbClr val="1118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8EDF7"/>
                          </a:solidFill>
                          <a:latin typeface="Segoe UI"/>
                        </a:rPr>
                        <a:t>₹0 — local models &amp; feeds</a:t>
                      </a:r>
                    </a:p>
                  </a:txBody>
                  <a:tcPr marL="73152" marR="45720" marT="18288" marB="18288" anchor="ctr">
                    <a:solidFill>
                      <a:srgbClr val="1118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8EDF7"/>
                          </a:solidFill>
                          <a:latin typeface="Segoe UI"/>
                        </a:rPr>
                        <a:t>Per-token API bills</a:t>
                      </a:r>
                    </a:p>
                  </a:txBody>
                  <a:tcPr marL="73152" marR="45720" marT="18288" marB="18288" anchor="ctr">
                    <a:solidFill>
                      <a:srgbClr val="11182B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8EDF7"/>
                          </a:solidFill>
                          <a:latin typeface="Segoe UI"/>
                        </a:rPr>
                        <a:t>Proof</a:t>
                      </a:r>
                    </a:p>
                  </a:txBody>
                  <a:tcPr marL="73152" marR="45720" marT="18288" marB="18288" anchor="ctr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8EDF7"/>
                          </a:solidFill>
                          <a:latin typeface="Segoe UI"/>
                        </a:rPr>
                        <a:t>Reproducible benchmark</a:t>
                      </a:r>
                    </a:p>
                  </a:txBody>
                  <a:tcPr marL="73152" marR="45720" marT="18288" marB="18288" anchor="ctr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E8EDF7"/>
                          </a:solidFill>
                          <a:latin typeface="Segoe UI"/>
                        </a:rPr>
                        <a:t>A demo video</a:t>
                      </a:r>
                    </a:p>
                  </a:txBody>
                  <a:tcPr marL="73152" marR="45720" marT="18288" marB="18288" anchor="ctr">
                    <a:solidFill>
                      <a:srgbClr val="0E142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144000" y="2286000"/>
            <a:ext cx="1645920" cy="502920"/>
          </a:xfrm>
          <a:prstGeom prst="roundRect">
            <a:avLst>
              <a:gd name="adj" fmla="val 6000"/>
            </a:avLst>
          </a:prstGeom>
          <a:solidFill>
            <a:srgbClr val="141128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28600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DF7"/>
                </a:solidFill>
                <a:latin typeface="Segoe UI"/>
              </a:rPr>
              <a:t>AI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200400"/>
            <a:ext cx="3291840" cy="77724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2918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Segoe UI"/>
              </a:rPr>
              <a:t>Sherry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6576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B0"/>
                </a:solidFill>
                <a:latin typeface="Segoe UI"/>
              </a:rPr>
              <a:t>Personal AI / OS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9875520" y="2788920"/>
            <a:ext cx="91440" cy="411480"/>
          </a:xfrm>
          <a:prstGeom prst="bentConnector3">
            <a:avLst/>
          </a:prstGeom>
          <a:ln w="1270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0" y="4160520"/>
            <a:ext cx="3291840" cy="77724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251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18CF8"/>
                </a:solidFill>
                <a:latin typeface="Segoe UI"/>
              </a:rPr>
              <a:t>Sentinel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6177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B0"/>
                </a:solidFill>
                <a:latin typeface="Segoe UI"/>
              </a:rPr>
              <a:t>DevOps / SRE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9875520" y="2788920"/>
            <a:ext cx="91440" cy="1371600"/>
          </a:xfrm>
          <a:prstGeom prst="bentConnector3">
            <a:avLst/>
          </a:prstGeom>
          <a:ln w="1270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0" y="5120640"/>
            <a:ext cx="3291840" cy="77724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52120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C55E"/>
                </a:solidFill>
                <a:latin typeface="Segoe UI"/>
              </a:rPr>
              <a:t>Aegis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5778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B0"/>
                </a:solidFill>
                <a:latin typeface="Segoe UI"/>
              </a:rPr>
              <a:t>Cybersecurity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9875520" y="2788920"/>
            <a:ext cx="91440" cy="2331720"/>
          </a:xfrm>
          <a:prstGeom prst="bentConnector3">
            <a:avLst/>
          </a:prstGeom>
          <a:ln w="12700">
            <a:solidFill>
              <a:srgbClr val="242E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108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846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Segoe UI"/>
              </a:rPr>
              <a:t>AEGIS  ·  AI-POWERED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7"/>
                </a:solidFill>
                <a:latin typeface="Segoe UI"/>
              </a:rPr>
              <a:t>Tech stack &amp; 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Aegis — AI-Powered Cybersecurity Investigation &amp; Threat-Intelligence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6078"/>
                </a:solidFill>
                <a:latin typeface="Segoe U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5303520" cy="77724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82296" cy="7772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Segoe U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194560"/>
            <a:ext cx="3383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EDF7"/>
                </a:solidFill>
                <a:latin typeface="Segoe UI"/>
              </a:rPr>
              <a:t>Python · FastAPI · Pydantic · SQLAlchemy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94560"/>
            <a:ext cx="5303520" cy="77724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194560"/>
            <a:ext cx="82296" cy="77724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30428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18CF8"/>
                </a:solidFill>
                <a:latin typeface="Segoe UI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194560"/>
            <a:ext cx="3383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EDF7"/>
                </a:solidFill>
                <a:latin typeface="Segoe UI"/>
              </a:rPr>
              <a:t>PostgreSQL · Redis Streams · pgvector · NetworkX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08960"/>
            <a:ext cx="5303520" cy="77724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108960"/>
            <a:ext cx="82296" cy="7772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1868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C55E"/>
                </a:solidFill>
                <a:latin typeface="Segoe UI"/>
              </a:rPr>
              <a:t>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108960"/>
            <a:ext cx="3383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EDF7"/>
                </a:solidFill>
                <a:latin typeface="Segoe UI"/>
              </a:rPr>
              <a:t>Ollama (local LLM) · local embeddings · evidence grounding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108960"/>
            <a:ext cx="5303520" cy="77724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108960"/>
            <a:ext cx="82296" cy="7772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21868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Segoe UI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108960"/>
            <a:ext cx="3383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EDF7"/>
                </a:solidFill>
                <a:latin typeface="Segoe UI"/>
              </a:rPr>
              <a:t>Next.js · TypeScript · Tailwind · React Flow · Recharts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023360"/>
            <a:ext cx="5303520" cy="77724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023360"/>
            <a:ext cx="82296" cy="77724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13308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18CF8"/>
                </a:solidFill>
                <a:latin typeface="Segoe UI"/>
              </a:rPr>
              <a:t>Observability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023360"/>
            <a:ext cx="3383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EDF7"/>
                </a:solidFill>
                <a:latin typeface="Segoe UI"/>
              </a:rPr>
              <a:t>OpenTelemetry · Prometheus · Grafana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023360"/>
            <a:ext cx="5303520" cy="77724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023360"/>
            <a:ext cx="82296" cy="777240"/>
          </a:xfrm>
          <a:prstGeom prst="rect">
            <a:avLst/>
          </a:prstGeom>
          <a:solidFill>
            <a:srgbClr val="F97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13308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0B"/>
                </a:solidFill>
                <a:latin typeface="Segoe UI"/>
              </a:rPr>
              <a:t>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4023360"/>
            <a:ext cx="3383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EDF7"/>
                </a:solidFill>
                <a:latin typeface="Segoe UI"/>
              </a:rPr>
              <a:t>Docker Compose · GitHub Actions CI · pytest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8BDF8"/>
                </a:solidFill>
                <a:latin typeface="Segoe UI"/>
              </a:rPr>
              <a:t>Roadmap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32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818CF8"/>
                </a:solidFill>
                <a:latin typeface="Segoe UI"/>
              </a:rPr>
              <a:t>→ </a:t>
            </a:r>
            <a:r>
              <a:rPr sz="1200">
                <a:solidFill>
                  <a:srgbClr val="E8EDF7"/>
                </a:solidFill>
                <a:latin typeface="Segoe UI"/>
              </a:rPr>
              <a:t>Kafka/Redpanda stream processing · live agent-based collectors · SOAR response playbooks · fine-tuned local investigation model · multi-tenant SaaS.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E8EDF7"/>
                </a:solidFill>
                <a:latin typeface="Segoe UI"/>
              </a:rPr>
              <a:t>Aegis turns scattered telemetry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E8EDF7"/>
                </a:solidFill>
                <a:latin typeface="Segoe UI"/>
              </a:rPr>
              <a:t>into a story you can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8404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7B0"/>
                </a:solidFill>
                <a:latin typeface="Segoe UI"/>
              </a:rPr>
              <a:t>Deterministic detection · attack-graph reconstruction · evidence-grounded AI · ₹0 API cost · fully reproducible.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4632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974336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22C55E"/>
                </a:solidFill>
                <a:latin typeface="Segoe UI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22392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B0"/>
                </a:solidFill>
                <a:latin typeface="Segoe UI"/>
              </a:rPr>
              <a:t>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484632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4974336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38BDF8"/>
                </a:solidFill>
                <a:latin typeface="Segoe UI"/>
              </a:rPr>
              <a:t>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5422392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B0"/>
                </a:solidFill>
                <a:latin typeface="Segoe UI"/>
              </a:rPr>
              <a:t>false positives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84632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974336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818CF8"/>
                </a:solidFill>
                <a:latin typeface="Segoe UI"/>
              </a:rPr>
              <a:t>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422392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B0"/>
                </a:solidFill>
                <a:latin typeface="Segoe UI"/>
              </a:rPr>
              <a:t>detections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484632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11182B"/>
          </a:solidFill>
          <a:ln w="12700">
            <a:solidFill>
              <a:srgbClr val="242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4974336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F9730B"/>
                </a:solidFill>
                <a:latin typeface="Segoe UI"/>
              </a:rPr>
              <a:t>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5422392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B97B0"/>
                </a:solidFill>
                <a:latin typeface="Segoe UI"/>
              </a:rPr>
              <a:t>benchmark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8BDF8"/>
                </a:solidFill>
                <a:latin typeface="Segoe UI"/>
              </a:rPr>
              <a:t>github.com/raunitgrey7/aegis   ·   built by Raunit Thakur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