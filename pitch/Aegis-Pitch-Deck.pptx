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Techniques covered</c:v>
                </c:pt>
              </c:strCache>
            </c:strRef>
          </c:tx>
          <c:spPr>
            <a:solidFill>
              <a:srgbClr val="38BDF8"/>
            </a:solidFill>
          </c:spPr>
          <c:cat>
            <c:strRef>
              <c:f>Sheet1!$A$2:$A$13</c:f>
              <c:strCache>
                <c:ptCount val="12"/>
                <c:pt idx="0">
                  <c:v>Initial
Access</c:v>
                </c:pt>
                <c:pt idx="1">
                  <c:v>Execution</c:v>
                </c:pt>
                <c:pt idx="2">
                  <c:v>Persistence</c:v>
                </c:pt>
                <c:pt idx="3">
                  <c:v>Priv.
Esc.</c:v>
                </c:pt>
                <c:pt idx="4">
                  <c:v>Defense
Evasion</c:v>
                </c:pt>
                <c:pt idx="5">
                  <c:v>Cred.
Access</c:v>
                </c:pt>
                <c:pt idx="6">
                  <c:v>Discovery</c:v>
                </c:pt>
                <c:pt idx="7">
                  <c:v>Lateral
Move.</c:v>
                </c:pt>
                <c:pt idx="8">
                  <c:v>Collection</c:v>
                </c:pt>
                <c:pt idx="9">
                  <c:v>C2</c:v>
                </c:pt>
                <c:pt idx="10">
                  <c:v>Exfil.</c:v>
                </c:pt>
                <c:pt idx="11">
                  <c:v>Impact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</c:v>
                </c:pt>
                <c:pt idx="1">
                  <c:v>11</c:v>
                </c:pt>
                <c:pt idx="2">
                  <c:v>8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6</c:v>
                </c:pt>
                <c:pt idx="7">
                  <c:v>6</c:v>
                </c:pt>
                <c:pt idx="8">
                  <c:v>4</c:v>
                </c:pt>
                <c:pt idx="9">
                  <c:v>9</c:v>
                </c:pt>
                <c:pt idx="10">
                  <c:v>5</c:v>
                </c:pt>
                <c:pt idx="11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>
                  <a:solidFill>
                    <a:srgbClr val="E8EDF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42E47"/>
            </a:solidFill>
          </a:ln>
        </c:spPr>
        <c:txPr>
          <a:bodyPr/>
          <a:lstStyle/>
          <a:p>
            <a:pPr>
              <a:defRPr sz="1000">
                <a:solidFill>
                  <a:srgbClr val="E8EDF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l"/>
        <c:majorGridlines>
          <c:spPr>
            <a:ln w="6350">
              <a:solidFill>
                <a:srgbClr val="242E4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42E47"/>
            </a:solidFill>
          </a:ln>
        </c:spPr>
        <c:txPr>
          <a:bodyPr/>
          <a:lstStyle/>
          <a:p>
            <a:pPr>
              <a:defRPr sz="900">
                <a:solidFill>
                  <a:srgbClr val="8B97B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E8EDF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Detection</c:v>
                </c:pt>
              </c:strCache>
            </c:strRef>
          </c:tx>
          <c:spPr>
            <a:solidFill>
              <a:srgbClr val="22C55E"/>
            </a:solidFill>
          </c:spPr>
          <c:cat>
            <c:strRef>
              <c:f>Sheet1!$A$2:$A$9</c:f>
              <c:strCache>
                <c:ptCount val="8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  <c:pt idx="7">
                  <c:v>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Chain reconstruction</c:v>
                </c:pt>
              </c:strCache>
            </c:strRef>
          </c:tx>
          <c:spPr>
            <a:solidFill>
              <a:srgbClr val="38BDF8"/>
            </a:solidFill>
          </c:spPr>
          <c:cat>
            <c:strRef>
              <c:f>Sheet1!$A$2:$A$9</c:f>
              <c:strCache>
                <c:ptCount val="8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  <c:pt idx="7">
                  <c:v>H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100.0</c:v>
                </c:pt>
                <c:pt idx="1">
                  <c:v>50.0</c:v>
                </c:pt>
                <c:pt idx="2">
                  <c:v>100.0</c:v>
                </c:pt>
                <c:pt idx="3">
                  <c:v>100.0</c:v>
                </c:pt>
                <c:pt idx="4">
                  <c:v>66.7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Technique recall</c:v>
                </c:pt>
              </c:strCache>
            </c:strRef>
          </c:tx>
          <c:spPr>
            <a:solidFill>
              <a:srgbClr val="818CF8"/>
            </a:solidFill>
          </c:spPr>
          <c:cat>
            <c:strRef>
              <c:f>Sheet1!$A$2:$A$9</c:f>
              <c:strCache>
                <c:ptCount val="8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  <c:pt idx="6">
                  <c:v>G</c:v>
                </c:pt>
                <c:pt idx="7">
                  <c:v>H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100.0</c:v>
                </c:pt>
                <c:pt idx="1">
                  <c:v>66.7</c:v>
                </c:pt>
                <c:pt idx="2">
                  <c:v>100.0</c:v>
                </c:pt>
                <c:pt idx="3">
                  <c:v>100.0</c:v>
                </c:pt>
                <c:pt idx="4">
                  <c:v>75.0</c:v>
                </c:pt>
                <c:pt idx="5">
                  <c:v>100.0</c:v>
                </c:pt>
                <c:pt idx="6">
                  <c:v>100.0</c:v>
                </c:pt>
                <c:pt idx="7">
                  <c:v>50.0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42E47"/>
            </a:solidFill>
          </a:ln>
        </c:spPr>
        <c:txPr>
          <a:bodyPr/>
          <a:lstStyle/>
          <a:p>
            <a:pPr>
              <a:defRPr sz="1000">
                <a:solidFill>
                  <a:srgbClr val="E8EDF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6350">
              <a:solidFill>
                <a:srgbClr val="242E4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42E47"/>
            </a:solidFill>
          </a:ln>
        </c:spPr>
        <c:txPr>
          <a:bodyPr/>
          <a:lstStyle/>
          <a:p>
            <a:pPr>
              <a:defRPr sz="900">
                <a:solidFill>
                  <a:srgbClr val="8B97B0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E8EDF7"/>
              </a:solidFill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E8EDF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E8EDF7"/>
                </a:solidFill>
                <a:latin typeface="Segoe UI"/>
              </a:rPr>
              <a:t>Detection method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818CF8"/>
              </a:solidFill>
              <a:ln w="19050">
                <a:solidFill>
                  <a:srgbClr val="0A0E1A"/>
                </a:solidFill>
              </a:ln>
            </c:spPr>
          </c:dPt>
          <c:dPt>
            <c:idx val="1"/>
            <c:spPr>
              <a:solidFill>
                <a:srgbClr val="38BDF8"/>
              </a:solidFill>
              <a:ln w="19050">
                <a:solidFill>
                  <a:srgbClr val="0A0E1A"/>
                </a:solidFill>
              </a:ln>
            </c:spPr>
          </c:dPt>
          <c:dPt>
            <c:idx val="2"/>
            <c:spPr>
              <a:solidFill>
                <a:srgbClr val="3B82F6"/>
              </a:solidFill>
              <a:ln w="19050">
                <a:solidFill>
                  <a:srgbClr val="0A0E1A"/>
                </a:solidFill>
              </a:ln>
            </c:spPr>
          </c:dPt>
          <c:dPt>
            <c:idx val="3"/>
            <c:spPr>
              <a:solidFill>
                <a:srgbClr val="F9730B"/>
              </a:solidFill>
              <a:ln w="19050">
                <a:solidFill>
                  <a:srgbClr val="0A0E1A"/>
                </a:solidFill>
              </a:ln>
            </c:spPr>
          </c:dPt>
          <c:dPt>
            <c:idx val="4"/>
            <c:spPr>
              <a:solidFill>
                <a:srgbClr val="22C55E"/>
              </a:solidFill>
              <a:ln w="19050">
                <a:solidFill>
                  <a:srgbClr val="0A0E1A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Behavioral chains</c:v>
                </c:pt>
                <c:pt idx="1">
                  <c:v>Rule (match)</c:v>
                </c:pt>
                <c:pt idx="2">
                  <c:v>Threshold</c:v>
                </c:pt>
                <c:pt idx="3">
                  <c:v>Statistical anomaly</c:v>
                </c:pt>
                <c:pt idx="4">
                  <c:v>Threat intel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34</c:v>
                </c:pt>
                <c:pt idx="2">
                  <c:v>12</c:v>
                </c:pt>
                <c:pt idx="3">
                  <c:v>16</c:v>
                </c:pt>
                <c:pt idx="4">
                  <c:v>12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8EDF7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000">
              <a:solidFill>
                <a:srgbClr val="E8EDF7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E8EDF7"/>
          </a:solidFill>
          <a:latin typeface="Segoe U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0" y="0"/>
            <a:ext cx="27432" cy="6858000"/>
          </a:xfrm>
          <a:prstGeom prst="rect">
            <a:avLst/>
          </a:prstGeom>
          <a:solidFill>
            <a:srgbClr val="24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15600" y="0"/>
            <a:ext cx="27432" cy="6858000"/>
          </a:xfrm>
          <a:prstGeom prst="rect">
            <a:avLst/>
          </a:prstGeom>
          <a:solidFill>
            <a:srgbClr val="24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38560" y="0"/>
            <a:ext cx="27432" cy="6858000"/>
          </a:xfrm>
          <a:prstGeom prst="rect">
            <a:avLst/>
          </a:prstGeom>
          <a:solidFill>
            <a:srgbClr val="24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4008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8BDF8"/>
                </a:solidFill>
                <a:latin typeface="Segoe UI"/>
              </a:rPr>
              <a:t>AEGIS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0312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E8EDF7"/>
                </a:solidFill>
                <a:latin typeface="Segoe UI"/>
              </a:rPr>
              <a:t>The AI Security Analyst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E8EDF7"/>
                </a:solidFill>
                <a:latin typeface="Segoe UI"/>
              </a:rPr>
              <a:t>that reconstructs the whole attack.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79476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A self-hosted platform that ingests security telemetry, detects malicious behavior with deterministic engines, reconstructs the attack chain as a graph, and explains the evidence — with zero API-key dependency.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2395728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20056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22C55E"/>
                </a:solidFill>
                <a:latin typeface="Segoe U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68112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Detection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4892040"/>
            <a:ext cx="2395728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5020056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38BDF8"/>
                </a:solidFill>
                <a:latin typeface="Segoe UI"/>
              </a:rPr>
              <a:t>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5468112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False-positive 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8736" y="4892040"/>
            <a:ext cx="2395728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5020056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818CF8"/>
                </a:solidFill>
                <a:latin typeface="Segoe UI"/>
              </a:rPr>
              <a:t>88%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5468112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Attack-chain recon.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1624" y="4892040"/>
            <a:ext cx="2395728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5020056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F9730B"/>
                </a:solidFill>
                <a:latin typeface="Segoe UI"/>
              </a:rPr>
              <a:t>₹0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5468112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API-key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56078"/>
                </a:solidFill>
                <a:latin typeface="Segoe UI"/>
              </a:rPr>
              <a:t>Portfolio project · self-hosted · local LLM (Ollama) · MITRE ATT&amp;CK · 58 detections · reproducible benchmark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Security teams are drowning in alerts, not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The bottleneck is not detection — it is investigation.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82296" cy="17373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3288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7"/>
                </a:solidFill>
                <a:latin typeface="Segoe UI"/>
              </a:rPr>
              <a:t>The 6-event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9008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A real intrusion is a handful of events scattered across authentication, endpoint, network and DNS logs — buried in millions of benign ones.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331720"/>
            <a:ext cx="82296" cy="1737360"/>
          </a:xfrm>
          <a:prstGeom prst="rect">
            <a:avLst/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3288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7"/>
                </a:solidFill>
                <a:latin typeface="Segoe UI"/>
              </a:rPr>
              <a:t>Alert fatigue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99008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SOC tools emit thousands of disconnected alerts a day. Analysts triage in isolation and miss the story that connects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82296" cy="1737360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445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7"/>
                </a:solidFill>
                <a:latin typeface="Segoe UI"/>
              </a:rPr>
              <a:t>Talent shortage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00176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~4 million unfilled cybersecurity roles globally. Investigation expertise is scarce, slow to train, and expensive.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3434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343400"/>
            <a:ext cx="82296" cy="173736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5445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7"/>
                </a:solidFill>
                <a:latin typeface="Segoe UI"/>
              </a:rPr>
              <a:t>"Chat with your logs" isn't enough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5001768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Bolting an LLM onto raw logs produces confident guesses, not evidence. It cannot be trusted to decide what is malicious.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Aegis: an evidence-grounded AI security analyst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Deterministic detection does the judging. AI does the explaining. Every claim cites real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8BDF8"/>
                </a:solidFill>
                <a:latin typeface="Segoe UI"/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Ingests </a:t>
            </a:r>
            <a:r>
              <a:rPr sz="1250">
                <a:solidFill>
                  <a:srgbClr val="E8EDF7"/>
                </a:solidFill>
                <a:latin typeface="Segoe UI"/>
              </a:rPr>
              <a:t>authentication, process, file, network, DNS, and threat-intel telemetry into one normalized schema.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Detects </a:t>
            </a:r>
            <a:r>
              <a:rPr sz="1250">
                <a:solidFill>
                  <a:srgbClr val="E8EDF7"/>
                </a:solidFill>
                <a:latin typeface="Segoe UI"/>
              </a:rPr>
              <a:t>with rules + statistics + threat intelligence — never with an LLM guess.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Correlates </a:t>
            </a:r>
            <a:r>
              <a:rPr sz="1250">
                <a:solidFill>
                  <a:srgbClr val="E8EDF7"/>
                </a:solidFill>
                <a:latin typeface="Segoe UI"/>
              </a:rPr>
              <a:t>scattered detections into a single incident by shared identity, host and time.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Reconstructs </a:t>
            </a:r>
            <a:r>
              <a:rPr sz="1250">
                <a:solidFill>
                  <a:srgbClr val="E8EDF7"/>
                </a:solidFill>
                <a:latin typeface="Segoe UI"/>
              </a:rPr>
              <a:t>the attack as a phase-ordered graph you can click through to raw evidence.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Investigates </a:t>
            </a:r>
            <a:r>
              <a:rPr sz="1250">
                <a:solidFill>
                  <a:srgbClr val="E8EDF7"/>
                </a:solidFill>
                <a:latin typeface="Segoe UI"/>
              </a:rPr>
              <a:t>with specialized AI agents that explain the incident and recommend actions.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Proves it </a:t>
            </a:r>
            <a:r>
              <a:rPr sz="1250">
                <a:solidFill>
                  <a:srgbClr val="E8EDF7"/>
                </a:solidFill>
                <a:latin typeface="Segoe UI"/>
              </a:rPr>
              <a:t>— every AI sentence is validated against real event IDs before you see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286000"/>
            <a:ext cx="5074920" cy="370332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5146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8BDF8"/>
                </a:solidFill>
                <a:latin typeface="Segoe UI"/>
              </a:rPr>
              <a:t>The core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9718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7"/>
                </a:solidFill>
                <a:latin typeface="Segoe UI"/>
              </a:rPr>
              <a:t>AI is not the detector.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5204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35204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Events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38633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8633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Normalization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42062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42062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8EDF7"/>
                </a:solidFill>
                <a:latin typeface="Segoe UI"/>
              </a:rPr>
              <a:t>Rules + Statistics + Threat Intel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5491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5491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8EDF7"/>
                </a:solidFill>
                <a:latin typeface="Segoe UI"/>
              </a:rPr>
              <a:t>Correlation → Attack Graph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48920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48920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Risk Scoring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52349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349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818CF8"/>
                </a:solidFill>
                <a:latin typeface="Segoe UI"/>
              </a:rPr>
              <a:t>AI Investigation (explains)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5577840"/>
            <a:ext cx="4434840" cy="2743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5577840"/>
            <a:ext cx="4434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Human Analyst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What a normal log viewer shows vs. what Aegis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Six unrelated lines — or one credential-compromise-to-exfiltration 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73152" cy="5120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286000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Login from unusual location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2395728"/>
            <a:ext cx="1234440" cy="292608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2414016"/>
            <a:ext cx="12344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initial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9504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889504"/>
            <a:ext cx="73152" cy="512064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89504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889504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PowerShell process spawned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2999232"/>
            <a:ext cx="845820" cy="292608"/>
          </a:xfrm>
          <a:prstGeom prst="roundRect">
            <a:avLst>
              <a:gd name="adj" fmla="val 6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3017520"/>
            <a:ext cx="8458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execution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93008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93008"/>
            <a:ext cx="73152" cy="512064"/>
          </a:xfrm>
          <a:prstGeom prst="rect">
            <a:avLst/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93008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493008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Encoded command executed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3602736"/>
            <a:ext cx="845820" cy="292608"/>
          </a:xfrm>
          <a:prstGeom prst="roundRect">
            <a:avLst>
              <a:gd name="adj" fmla="val 6000"/>
            </a:avLst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621024"/>
            <a:ext cx="8458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execution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96512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096512"/>
            <a:ext cx="73152" cy="512064"/>
          </a:xfrm>
          <a:prstGeom prst="rect">
            <a:avLst/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096512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096512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Outbound connection to known-bad IP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0" y="4206240"/>
            <a:ext cx="1467612" cy="292608"/>
          </a:xfrm>
          <a:prstGeom prst="roundRect">
            <a:avLst>
              <a:gd name="adj" fmla="val 6000"/>
            </a:avLst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4224528"/>
            <a:ext cx="14676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command &amp; control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700016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700016"/>
            <a:ext cx="73152" cy="512064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700016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700016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Large archive created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0" y="4809744"/>
            <a:ext cx="923544" cy="292608"/>
          </a:xfrm>
          <a:prstGeom prst="roundRect">
            <a:avLst>
              <a:gd name="adj" fmla="val 6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0" y="4828032"/>
            <a:ext cx="9235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collection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03520"/>
            <a:ext cx="6035040" cy="512064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303520"/>
            <a:ext cx="73152" cy="5120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303520"/>
            <a:ext cx="9144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02:19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5303520"/>
            <a:ext cx="37490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8EDF7"/>
                </a:solidFill>
                <a:latin typeface="Segoe UI"/>
              </a:rPr>
              <a:t>Archive transmitted externally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0" y="5413248"/>
            <a:ext cx="1078992" cy="292608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0" y="5431536"/>
            <a:ext cx="10789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A0E1A"/>
                </a:solidFill>
                <a:latin typeface="Segoe UI"/>
              </a:rPr>
              <a:t>exfiltration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49440" y="2286000"/>
            <a:ext cx="4572000" cy="3621024"/>
          </a:xfrm>
          <a:prstGeom prst="roundRect">
            <a:avLst>
              <a:gd name="adj" fmla="val 6000"/>
            </a:avLst>
          </a:prstGeom>
          <a:solidFill>
            <a:srgbClr val="1A1014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0" y="248716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4444"/>
                </a:solidFill>
                <a:latin typeface="Segoe UI"/>
              </a:rPr>
              <a:t>AEGIS VERDICT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0" y="2852928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E8EDF7"/>
                </a:solidFill>
                <a:latin typeface="Segoe UI"/>
              </a:rPr>
              <a:t>Likely credential compromise followed by command execution and data exfiltration.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388620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9730B"/>
                </a:solidFill>
                <a:latin typeface="Segoe UI"/>
              </a:rPr>
              <a:t>Risk 91 / 100   ·   Confidence 94%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4343400"/>
            <a:ext cx="4069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2C55E"/>
                </a:solidFill>
                <a:latin typeface="Segoe UI"/>
              </a:rPr>
              <a:t>✓ </a:t>
            </a:r>
            <a:r>
              <a:rPr sz="1150">
                <a:solidFill>
                  <a:srgbClr val="E8EDF7"/>
                </a:solidFill>
                <a:latin typeface="Segoe UI"/>
              </a:rPr>
              <a:t>6 kill-chain phases linked into one incident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2C55E"/>
                </a:solidFill>
                <a:latin typeface="Segoe UI"/>
              </a:rPr>
              <a:t>✓ </a:t>
            </a:r>
            <a:r>
              <a:rPr sz="1150">
                <a:solidFill>
                  <a:srgbClr val="E8EDF7"/>
                </a:solidFill>
                <a:latin typeface="Segoe UI"/>
              </a:rPr>
              <a:t>Every node traces back to a real event ID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22C55E"/>
                </a:solidFill>
                <a:latin typeface="Segoe UI"/>
              </a:rPr>
              <a:t>✓ </a:t>
            </a:r>
            <a:r>
              <a:rPr sz="1150">
                <a:solidFill>
                  <a:srgbClr val="E8EDF7"/>
                </a:solidFill>
                <a:latin typeface="Segoe UI"/>
              </a:rPr>
              <a:t>Recommended: disable session, reset creds, isolate host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How it works — a deterministic pipeline with AI at the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Nine stages. The LLM only enters at stage 8, and only to explain.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Event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Ingestion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19656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19656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Normali-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zation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90088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072384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Detection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Rules · Stats · TI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42816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25112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5112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Knowledge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Graph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95544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577840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Correlation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30568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0568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Attack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01000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83296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Risk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Scoring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53728" y="3451860"/>
            <a:ext cx="71323" cy="0"/>
          </a:xfrm>
          <a:prstGeom prst="bentConnector3">
            <a:avLst/>
          </a:prstGeom>
          <a:ln w="17780">
            <a:solidFill>
              <a:srgbClr val="818C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336024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41128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6024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AI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Investigation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506456" y="3451860"/>
            <a:ext cx="71323" cy="0"/>
          </a:xfrm>
          <a:prstGeom prst="bentConnector3">
            <a:avLst/>
          </a:prstGeom>
          <a:ln w="1778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588752" y="2926080"/>
            <a:ext cx="1170432" cy="10515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88752" y="2926080"/>
            <a:ext cx="117043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Analyst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8EDF7"/>
                </a:solidFill>
                <a:latin typeface="Segoe UI"/>
              </a:rPr>
              <a:t>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2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BDF8"/>
                </a:solidFill>
                <a:latin typeface="Segoe UI"/>
              </a:rPr>
              <a:t>DETERMINISTIC  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024" y="2423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18CF8"/>
                </a:solidFill>
                <a:latin typeface="Segoe UI"/>
              </a:rPr>
              <a:t>AI-ASSISTED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B97B0"/>
                </a:solidFill>
                <a:latin typeface="Segoe UI"/>
              </a:rPr>
              <a:t>Detection is fully explainable and reproducible. The knowledge graph turns telemetry into typed, time-stamped relationships, so correlation is a graph query — not a log search. The same pipeline object powers the REST API, the streaming worker, and the evaluation harness.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349240"/>
            <a:ext cx="3520440" cy="8229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349240"/>
            <a:ext cx="3200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Rule-based: match / threshold / sequence DSL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70248" y="5349240"/>
            <a:ext cx="3520440" cy="8229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53128" y="5349240"/>
            <a:ext cx="3200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Statistical: login-hour, first-seen, robust z-score, rarity, entropy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73568" y="5349240"/>
            <a:ext cx="3520440" cy="82296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56448" y="5349240"/>
            <a:ext cx="3200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Threat intel: local IOC store from public feeds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Self-hosted, containerized, no external dependencies.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B0"/>
                </a:solidFill>
                <a:latin typeface="Segoe UI"/>
              </a:rPr>
              <a:t>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19456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19456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Next.js / React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219456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19456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Overview · Incidents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0256" y="219456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19456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Attack Graph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87384" y="219456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7384" y="219456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Copilot · Threat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35808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B0"/>
                </a:solidFill>
                <a:latin typeface="Segoe UI"/>
              </a:rPr>
              <a:t>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30175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301752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FastAPI + JWT/RBAC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3128" y="30175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3128" y="301752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Rate limit ·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0256" y="30175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01752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Prometheus /metrics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87384" y="30175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7384" y="301752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OpenAPI /docs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58768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B0"/>
                </a:solidFill>
                <a:latin typeface="Segoe UI"/>
              </a:rPr>
              <a:t>ENGINES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384048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0" y="384048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Detection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53128" y="384048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384048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Correlation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0256" y="384048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384048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Investigation (agents)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7384" y="384048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7384" y="384048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Threat Intel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681728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B0"/>
                </a:solidFill>
                <a:latin typeface="Segoe UI"/>
              </a:rPr>
              <a:t>DATA / 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86000" y="466344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" y="466344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PostgreSQL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53128" y="466344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8" y="466344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Redis Streams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20256" y="466344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0256" y="466344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Knowledge Graph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87384" y="466344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87384" y="4663440"/>
            <a:ext cx="1965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E8EDF7"/>
                </a:solidFill>
                <a:latin typeface="Segoe UI"/>
              </a:rPr>
              <a:t>Ollama (local LLM)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00800" y="2852928"/>
            <a:ext cx="0" cy="164592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0" y="3675887"/>
            <a:ext cx="0" cy="164592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0" y="4498848"/>
            <a:ext cx="0" cy="164592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Event producers → collector → message broker → stream processor → detection → correlation → security graph → investigation.  Runs entirely on a laptop via Docker Compose.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The killer feature: Attack-Story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Not a list of alerts — a graph. Click any node to inspect the underlying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User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alice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7432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274320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Workstation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WS-042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27432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F973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74320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powershell.exe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(encoded)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192024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192024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External IP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45.155.205.233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356616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356616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Exfil dest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23.106.223.55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416052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EAB3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416052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export.zip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180 MB staged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43200" y="3177540"/>
            <a:ext cx="320040" cy="0"/>
          </a:xfrm>
          <a:prstGeom prst="bentConnector3">
            <a:avLst/>
          </a:prstGeom>
          <a:ln w="21590">
            <a:solidFill>
              <a:srgbClr val="818C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3480" y="3177540"/>
            <a:ext cx="320040" cy="0"/>
          </a:xfrm>
          <a:prstGeom prst="bentConnector3">
            <a:avLst/>
          </a:prstGeom>
          <a:ln w="21590">
            <a:solidFill>
              <a:srgbClr val="F973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223760" y="2354580"/>
            <a:ext cx="320040" cy="822960"/>
          </a:xfrm>
          <a:prstGeom prst="bentConnector3">
            <a:avLst/>
          </a:prstGeom>
          <a:ln w="21590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223760" y="4000500"/>
            <a:ext cx="2560320" cy="507492"/>
          </a:xfrm>
          <a:prstGeom prst="bentConnector3">
            <a:avLst/>
          </a:prstGeom>
          <a:ln w="21590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63640" y="3611880"/>
            <a:ext cx="0" cy="548640"/>
          </a:xfrm>
          <a:prstGeom prst="bentConnector3">
            <a:avLst/>
          </a:prstGeom>
          <a:ln w="20320">
            <a:solidFill>
              <a:srgbClr val="EAB3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64040" y="2528316"/>
            <a:ext cx="320040" cy="1255014"/>
          </a:xfrm>
          <a:prstGeom prst="bentConnector3">
            <a:avLst/>
          </a:prstGeom>
          <a:ln w="21590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3310128"/>
            <a:ext cx="1778508" cy="292608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3328416"/>
            <a:ext cx="17785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8EDF7"/>
                </a:solidFill>
                <a:latin typeface="Segoe UI"/>
              </a:rPr>
              <a:t>IOC: Cobalt Strike C2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4709160"/>
            <a:ext cx="1312164" cy="292608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4727448"/>
            <a:ext cx="131216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8EDF7"/>
                </a:solidFill>
                <a:latin typeface="Segoe UI"/>
              </a:rPr>
              <a:t>IOC: exfil drop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486400"/>
            <a:ext cx="1234440" cy="292608"/>
          </a:xfrm>
          <a:prstGeom prst="roundRect">
            <a:avLst>
              <a:gd name="adj" fmla="val 6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504688"/>
            <a:ext cx="12344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A0E1A"/>
                </a:solidFill>
                <a:latin typeface="Segoe UI"/>
              </a:rPr>
              <a:t>Initial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40280" y="5486400"/>
            <a:ext cx="845820" cy="292608"/>
          </a:xfrm>
          <a:prstGeom prst="roundRect">
            <a:avLst>
              <a:gd name="adj" fmla="val 6000"/>
            </a:avLst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40280" y="5504688"/>
            <a:ext cx="8458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A0E1A"/>
                </a:solidFill>
                <a:latin typeface="Segoe UI"/>
              </a:rPr>
              <a:t>Execution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68980" y="5486400"/>
            <a:ext cx="301752" cy="292608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68980" y="5504688"/>
            <a:ext cx="30175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A0E1A"/>
                </a:solidFill>
                <a:latin typeface="Segoe UI"/>
              </a:rPr>
              <a:t>C2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53612" y="5486400"/>
            <a:ext cx="923544" cy="292608"/>
          </a:xfrm>
          <a:prstGeom prst="roundRect">
            <a:avLst>
              <a:gd name="adj" fmla="val 6000"/>
            </a:avLst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53612" y="5504688"/>
            <a:ext cx="9235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A0E1A"/>
                </a:solidFill>
                <a:latin typeface="Segoe UI"/>
              </a:rPr>
              <a:t>Collection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0036" y="5486400"/>
            <a:ext cx="1078992" cy="292608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60036" y="5504688"/>
            <a:ext cx="10789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A0E1A"/>
                </a:solidFill>
                <a:latin typeface="Segoe UI"/>
              </a:rPr>
              <a:t>Exfiltration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B0"/>
                </a:solidFill>
                <a:latin typeface="Segoe UI"/>
              </a:rPr>
              <a:t>Nodes are entities (user · host · process · file · IP · IOC); edges are typed, time-stamped relationships carrying the events that justify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Detection depth: 58 rules across the MITRE ATT&amp;CK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Real security-domain coverage — not a thin AI wrapper.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86000"/>
          <a:ext cx="73152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0" y="22860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286000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8BDF8"/>
                </a:solidFill>
                <a:latin typeface="Segoe UI"/>
              </a:rPr>
              <a:t>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2860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detection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273552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3273552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818CF8"/>
                </a:solidFill>
                <a:latin typeface="Segoe UI"/>
              </a:rPr>
              <a:t>69/80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273552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ATT&amp;CK techniques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261104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4261104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2C55E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261104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kill-chain phases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5248656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5248656"/>
            <a:ext cx="1371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9730B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5248656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detection methods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AI Investigation: specialized agents, grounded in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Division of labor — not agents chatting because multi-agent sounds cool.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148840"/>
            <a:ext cx="2103120" cy="640080"/>
          </a:xfrm>
          <a:prstGeom prst="roundRect">
            <a:avLst>
              <a:gd name="adj" fmla="val 6000"/>
            </a:avLst>
          </a:prstGeom>
          <a:solidFill>
            <a:srgbClr val="141128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14884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Investigation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20040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Identity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31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auth · accounts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· privilege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57400" y="2788920"/>
            <a:ext cx="4069080" cy="411480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30168" y="320040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320040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Process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3931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execution ·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LOLBins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4818888" y="2788920"/>
            <a:ext cx="1307592" cy="411480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91656" y="320040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320040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Network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31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C2 · DNS ·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exfiltration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26480" y="2788920"/>
            <a:ext cx="1453896" cy="411480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53144" y="3200400"/>
            <a:ext cx="2377440" cy="6858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320040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File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8EDF7"/>
                </a:solidFill>
                <a:latin typeface="Segoe UI"/>
              </a:rPr>
              <a:t>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393192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staging ·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B97B0"/>
                </a:solidFill>
                <a:latin typeface="Segoe UI"/>
              </a:rPr>
              <a:t>encryption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0" y="2788920"/>
            <a:ext cx="4215384" cy="411480"/>
          </a:xfrm>
          <a:prstGeom prst="bentConnector3">
            <a:avLst/>
          </a:prstGeom>
          <a:ln w="1524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566160" y="4526280"/>
            <a:ext cx="2286000" cy="56692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45262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8EDF7"/>
                </a:solidFill>
                <a:latin typeface="Segoe UI"/>
              </a:rPr>
              <a:t>Evidence + Reconstruction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057400" y="4389120"/>
            <a:ext cx="2651760" cy="13716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4709160" y="4389120"/>
            <a:ext cx="109728" cy="13716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4709160" y="4389120"/>
            <a:ext cx="2871216" cy="13716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709160" y="4389120"/>
            <a:ext cx="5632704" cy="13716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26480" y="4526280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41128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452628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AI Synthesizer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52160" y="4809744"/>
            <a:ext cx="274320" cy="0"/>
          </a:xfrm>
          <a:prstGeom prst="bentConnector3">
            <a:avLst/>
          </a:prstGeom>
          <a:ln w="17780">
            <a:solidFill>
              <a:srgbClr val="818C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95360" y="4526280"/>
            <a:ext cx="2651760" cy="566928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4526280"/>
            <a:ext cx="2651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2C55E"/>
                </a:solidFill>
                <a:latin typeface="Segoe UI"/>
              </a:rPr>
              <a:t>Grounding Validator ✓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4809744"/>
            <a:ext cx="274320" cy="0"/>
          </a:xfrm>
          <a:prstGeom prst="bentConnector3">
            <a:avLst/>
          </a:prstGeom>
          <a:ln w="17780">
            <a:solidFill>
              <a:srgbClr val="22C5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7B0"/>
                </a:solidFill>
                <a:latin typeface="Segoe UI"/>
              </a:rPr>
              <a:t>Every event ID the model cites must exist in the incident's evidence. Fabricated citations are dropped and the narrative falls back to a deterministic one — so a hallucinating or prompt-injected model cannot mislead the analyst.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A security product that is itself secure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Aegis consumes attacker-controlled text — so prompt injection is an architectural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40280"/>
          <a:ext cx="10881359" cy="33832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0171"/>
                <a:gridCol w="6311188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38BDF8"/>
                          </a:solidFill>
                          <a:latin typeface="Segoe UI"/>
                        </a:rPr>
                        <a:t>Threat</a:t>
                      </a:r>
                    </a:p>
                  </a:txBody>
                  <a:tcPr marL="73152" marR="45720" marT="18288" marB="18288" anchor="ctr">
                    <a:solidFill>
                      <a:srgbClr val="1B24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8BDF8"/>
                          </a:solidFill>
                          <a:latin typeface="Segoe UI"/>
                        </a:rPr>
                        <a:t>Mitigation in Aegis</a:t>
                      </a:r>
                    </a:p>
                  </a:txBody>
                  <a:tcPr marL="73152" marR="45720" marT="18288" marB="18288" anchor="ctr">
                    <a:solidFill>
                      <a:srgbClr val="1B243D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Malicious / oversized event payload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Strict schema, size &amp; batch limits, per-field length caps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Prompt injection inside telemetry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Neutralize + fence untrusted text; validate AI output vs. real evidence IDs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AI attempts unauthorized action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LLM has no tools — it only emits text; detection is deterministic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Audit tampering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Hash-chained, append-only audit log with verification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AuthN / AuthZ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JWT + RBAC (viewer/analyst/admin), API-key ingest, constant-time compare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ReDoS on hostile regex input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E8EDF7"/>
                          </a:solidFill>
                          <a:latin typeface="Segoe UI"/>
                        </a:rPr>
                        <a:t>Regex input capped; rule errors isolated per-rule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818CF8"/>
                </a:solidFill>
                <a:latin typeface="Segoe UI"/>
              </a:rPr>
              <a:t>Defense-in-depth: prevention (fencing) reduces the chance of a successful injection; validation (grounding) contains the blast radius if one gets through.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Evaluation: a reproducible benchmark, not a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Seed 1337 · 30,407 events · deterministic · the LLM touches none of these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Synthetic 60-user enterprise </a:t>
            </a:r>
            <a:r>
              <a:rPr sz="1250">
                <a:solidFill>
                  <a:srgbClr val="E8EDF7"/>
                </a:solidFill>
                <a:latin typeface="Segoe UI"/>
              </a:rPr>
              <a:t>— workstations, servers, SaaS destinations, realistic daily rhythm.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23,047-event benign baseline </a:t>
            </a:r>
            <a:r>
              <a:rPr sz="1250">
                <a:solidFill>
                  <a:srgbClr val="E8EDF7"/>
                </a:solidFill>
                <a:latin typeface="Segoe UI"/>
              </a:rPr>
              <a:t>trains the statistical detectors before any attack runs.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8 attack scenarios (A–H) </a:t>
            </a:r>
            <a:r>
              <a:rPr sz="1250">
                <a:solidFill>
                  <a:srgbClr val="E8EDF7"/>
                </a:solidFill>
                <a:latin typeface="Segoe UI"/>
              </a:rPr>
              <a:t>— brute force, malicious macro, priv-esc, lateral movement, ransomware, DNS tunneling, exfiltration.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Hard negatives </a:t>
            </a:r>
            <a:r>
              <a:rPr sz="1250">
                <a:solidFill>
                  <a:srgbClr val="E8EDF7"/>
                </a:solidFill>
                <a:latin typeface="Segoe UI"/>
              </a:rPr>
              <a:t>— admins running admin tools, devs running PowerShell, travelers abroad, 500 MB OneDrive uploads.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108 attack + 108 benign runs </a:t>
            </a:r>
            <a:r>
              <a:rPr sz="1250">
                <a:solidFill>
                  <a:srgbClr val="E8EDF7"/>
                </a:solidFill>
                <a:latin typeface="Segoe UI"/>
              </a:rPr>
              <a:t>scored against ground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Confusion matrix (200 runs)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377440"/>
            <a:ext cx="2011680" cy="2011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6060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C55E"/>
                </a:solidFill>
                <a:latin typeface="Segoe UI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17520"/>
            <a:ext cx="20116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8EDF7"/>
                </a:solidFill>
                <a:latin typeface="Segoe UI"/>
              </a:rPr>
              <a:t>108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377440"/>
            <a:ext cx="2011680" cy="2011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6060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F4444"/>
                </a:solidFill>
                <a:latin typeface="Segoe UI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3017520"/>
            <a:ext cx="20116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8EDF7"/>
                </a:solidFill>
                <a:latin typeface="Segoe UI"/>
              </a:rPr>
              <a:t>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4572000"/>
            <a:ext cx="2011680" cy="2011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F973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9730B"/>
                </a:solidFill>
                <a:latin typeface="Segoe UI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212080"/>
            <a:ext cx="20116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8EDF7"/>
                </a:solidFill>
                <a:latin typeface="Segoe UI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4572000"/>
            <a:ext cx="2011680" cy="201168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C55E"/>
                </a:solidFill>
                <a:latin typeface="Segoe UI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5212080"/>
            <a:ext cx="20116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8EDF7"/>
                </a:solidFill>
                <a:latin typeface="Segoe UI"/>
              </a:rPr>
              <a:t>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On the committed 100-attack / 100-benign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140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22C55E"/>
                </a:solidFill>
                <a:latin typeface="Segoe U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92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Detection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4140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38BDF8"/>
                </a:solidFill>
                <a:latin typeface="Segoe UI"/>
              </a:rPr>
              <a:t>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3192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False-positive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2860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140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818CF8"/>
                </a:solidFill>
                <a:latin typeface="Segoe UI"/>
              </a:rPr>
              <a:t>99%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3192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F1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2860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4140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38BDF8"/>
                </a:solidFill>
                <a:latin typeface="Segoe UI"/>
              </a:rPr>
              <a:t>88%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3192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Attack-chain reconstruction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428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818CF8"/>
                </a:solidFill>
                <a:latin typeface="Segoe UI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480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MITRE technique recall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1148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42428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22C55E"/>
                </a:solidFill>
                <a:latin typeface="Segoe UI"/>
              </a:rPr>
              <a:t>80%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1480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IOC correlation accuracy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1148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2428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38BDF8"/>
                </a:solidFill>
                <a:latin typeface="Segoe UI"/>
              </a:rPr>
              <a:t>74%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1480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Evidence coverage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114800"/>
            <a:ext cx="2670048" cy="16002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242816"/>
            <a:ext cx="26700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818CF8"/>
                </a:solidFill>
                <a:latin typeface="Segoe UI"/>
              </a:rPr>
              <a:t>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48072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Precision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Detection latency: mean 1211 ms · p95 3745 ms (full re-correlation per batch).  Detection engine sustains sub-millisecond per-event processing. All numbers reproducible via `make eval`.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Per-scenario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Detection is perfect across all eight attack classes; reconstruction stays high.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86000"/>
          <a:ext cx="7498079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228600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BDF8"/>
                </a:solidFill>
                <a:latin typeface="Segoe UI"/>
              </a:rPr>
              <a:t>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A  ·  Brute force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11810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B  ·  Suspicious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5387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C  ·  Malicious macro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5935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D  ·  Priv-esc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997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E  ·  Lateral move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8006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F  ·  Ransomware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2212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G  ·  DNS tunnel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4184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8EDF7"/>
                </a:solidFill>
                <a:latin typeface="Segoe UI"/>
              </a:rPr>
              <a:t>H  ·  Exfiltration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Where detections come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A layered defense — no single method carries the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2377440"/>
          <a:ext cx="51206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Behavioral sequences </a:t>
            </a:r>
            <a:r>
              <a:rPr sz="1250">
                <a:solidFill>
                  <a:srgbClr val="E8EDF7"/>
                </a:solidFill>
                <a:latin typeface="Segoe UI"/>
              </a:rPr>
              <a:t>catch multi-step attacks that any single event would miss.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Rules </a:t>
            </a:r>
            <a:r>
              <a:rPr sz="1250">
                <a:solidFill>
                  <a:srgbClr val="E8EDF7"/>
                </a:solidFill>
                <a:latin typeface="Segoe UI"/>
              </a:rPr>
              <a:t>encode known-bad techniques (encoded PowerShell, LSASS dumping, shadow-copy deletion).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Statistical baselines </a:t>
            </a:r>
            <a:r>
              <a:rPr sz="1250">
                <a:solidFill>
                  <a:srgbClr val="E8EDF7"/>
                </a:solidFill>
                <a:latin typeface="Segoe UI"/>
              </a:rPr>
              <a:t>flag the never-before-seen: odd login hours, new geographies, egress spikes.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38BDF8"/>
                </a:solidFill>
                <a:latin typeface="Segoe UI"/>
              </a:rPr>
              <a:t>▸ </a:t>
            </a:r>
            <a:r>
              <a:rPr sz="1250" b="1">
                <a:solidFill>
                  <a:srgbClr val="E8EDF7"/>
                </a:solidFill>
                <a:latin typeface="Segoe UI"/>
              </a:rPr>
              <a:t>Threat intel </a:t>
            </a:r>
            <a:r>
              <a:rPr sz="1250">
                <a:solidFill>
                  <a:srgbClr val="E8EDF7"/>
                </a:solidFill>
                <a:latin typeface="Segoe UI"/>
              </a:rPr>
              <a:t>confirms known-malicious IPs, domains and hashes from public feeds — ₹0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Why this is different — and 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Three deep products across three engineering domains.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40280"/>
          <a:ext cx="7315200" cy="356615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87168"/>
                <a:gridCol w="2633472"/>
                <a:gridCol w="2194560"/>
              </a:tblGrid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38BDF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1B24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8BDF8"/>
                          </a:solidFill>
                          <a:latin typeface="Segoe UI"/>
                        </a:rPr>
                        <a:t>Aegis</a:t>
                      </a:r>
                    </a:p>
                  </a:txBody>
                  <a:tcPr marL="73152" marR="45720" marT="18288" marB="18288" anchor="ctr">
                    <a:solidFill>
                      <a:srgbClr val="1B24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38BDF8"/>
                          </a:solidFill>
                          <a:latin typeface="Segoe UI"/>
                        </a:rPr>
                        <a:t>Typical "AI + logs" tool</a:t>
                      </a:r>
                    </a:p>
                  </a:txBody>
                  <a:tcPr marL="73152" marR="45720" marT="18288" marB="18288" anchor="ctr">
                    <a:solidFill>
                      <a:srgbClr val="1B243D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Who decides malice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Deterministic engines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The LLM (guesses)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Reconstructed attack graph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A wall of alerts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Trust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Every claim cites real evidence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Unverifiable prose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Prompt injection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Architectural defense-in-depth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Usually ignored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Cost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₹0 — local models &amp; feeds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Per-token API bills</a:t>
                      </a:r>
                    </a:p>
                  </a:txBody>
                  <a:tcPr marL="73152" marR="45720" marT="18288" marB="18288" anchor="ctr">
                    <a:solidFill>
                      <a:srgbClr val="11182B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Proof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Reproducible benchmark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E8EDF7"/>
                          </a:solidFill>
                          <a:latin typeface="Segoe UI"/>
                        </a:rPr>
                        <a:t>A demo video</a:t>
                      </a:r>
                    </a:p>
                  </a:txBody>
                  <a:tcPr marL="73152" marR="45720" marT="18288" marB="18288" anchor="ctr"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9144000" y="228600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141128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2860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8EDF7"/>
                </a:solidFill>
                <a:latin typeface="Segoe UI"/>
              </a:rPr>
              <a:t>AI Engineering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200400"/>
            <a:ext cx="329184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91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Sherry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B0"/>
                </a:solidFill>
                <a:latin typeface="Segoe UI"/>
              </a:rPr>
              <a:t>Personal AI / OS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9875520" y="2788920"/>
            <a:ext cx="91440" cy="41148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4160520"/>
            <a:ext cx="329184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251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18CF8"/>
                </a:solidFill>
                <a:latin typeface="Segoe UI"/>
              </a:rPr>
              <a:t>Sentinel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617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B0"/>
                </a:solidFill>
                <a:latin typeface="Segoe UI"/>
              </a:rPr>
              <a:t>DevOps / SRE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875520" y="2788920"/>
            <a:ext cx="91440" cy="137160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29600" y="5120640"/>
            <a:ext cx="329184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52120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C55E"/>
                </a:solidFill>
                <a:latin typeface="Segoe UI"/>
              </a:rPr>
              <a:t>Aegis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5778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B0"/>
                </a:solidFill>
                <a:latin typeface="Segoe UI"/>
              </a:rPr>
              <a:t>Cybersecurity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9875520" y="2788920"/>
            <a:ext cx="91440" cy="2331720"/>
          </a:xfrm>
          <a:prstGeom prst="bentConnector3">
            <a:avLst/>
          </a:prstGeom>
          <a:ln w="12700">
            <a:solidFill>
              <a:srgbClr val="242E4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109728" cy="3108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484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AEGIS  ·  AI-POWERED CYBERSECURITY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8EDF7"/>
                </a:solidFill>
                <a:latin typeface="Segoe UI"/>
              </a:rPr>
              <a:t>Tech stack &amp;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Aegis — AI-Powered Cybersecurity Investigation &amp; Threat-Intelligence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56078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82296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945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Python · FastAPI · Pydantic · SQLAlchemy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94560"/>
            <a:ext cx="82296" cy="77724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042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18CF8"/>
                </a:solidFill>
                <a:latin typeface="Segoe U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1945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PostgreSQL · Redis Streams · pgvector · NetworkX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089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82296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186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2C55E"/>
                </a:solidFill>
                <a:latin typeface="Segoe UI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Ollama (local LLM) · local embeddings · evidence grounding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1089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108960"/>
            <a:ext cx="82296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2186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Segoe UI"/>
              </a:rP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1089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Next.js · TypeScript · Tailwind · React Flow · Recharts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233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82296" cy="77724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330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18CF8"/>
                </a:solidFill>
                <a:latin typeface="Segoe UI"/>
              </a:rPr>
              <a:t>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0233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OpenTelemetry · Prometheus · Grafana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02336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023360"/>
            <a:ext cx="82296" cy="777240"/>
          </a:xfrm>
          <a:prstGeom prst="rect">
            <a:avLst/>
          </a:prstGeom>
          <a:solidFill>
            <a:srgbClr val="F97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13308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9730B"/>
                </a:solidFill>
                <a:latin typeface="Segoe UI"/>
              </a:rPr>
              <a:t>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023360"/>
            <a:ext cx="33832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7"/>
                </a:solidFill>
                <a:latin typeface="Segoe UI"/>
              </a:rPr>
              <a:t>Docker Compose · GitHub Actions CI · pytest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8BDF8"/>
                </a:solidFill>
                <a:latin typeface="Segoe UI"/>
              </a:rPr>
              <a:t>Roadmap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532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818CF8"/>
                </a:solidFill>
                <a:latin typeface="Segoe UI"/>
              </a:rPr>
              <a:t>→ </a:t>
            </a:r>
            <a:r>
              <a:rPr sz="1200">
                <a:solidFill>
                  <a:srgbClr val="E8EDF7"/>
                </a:solidFill>
                <a:latin typeface="Segoe UI"/>
              </a:rPr>
              <a:t>Kafka/Redpanda stream processing · live agent-based collectors · SOAR response playbooks · fine-tuned local investigation model · multi-tenant SaaS.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E8EDF7"/>
                </a:solidFill>
                <a:latin typeface="Segoe UI"/>
              </a:rPr>
              <a:t>Aegis turns scattered telemetry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E8EDF7"/>
                </a:solidFill>
                <a:latin typeface="Segoe UI"/>
              </a:rPr>
              <a:t>into a story you can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404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B0"/>
                </a:solidFill>
                <a:latin typeface="Segoe UI"/>
              </a:rPr>
              <a:t>Deterministic detection · attack-graph reconstruction · evidence-grounded AI · ₹0 API cost · fully reproducible.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74336"/>
            <a:ext cx="2514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22C55E"/>
                </a:solidFill>
                <a:latin typeface="Segoe UI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223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8463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4974336"/>
            <a:ext cx="2514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38BDF8"/>
                </a:solidFill>
                <a:latin typeface="Segoe UI"/>
              </a:rPr>
              <a:t>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223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false positives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463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74336"/>
            <a:ext cx="2514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818CF8"/>
                </a:solidFill>
                <a:latin typeface="Segoe UI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4223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4846320"/>
            <a:ext cx="2514600" cy="1143000"/>
          </a:xfrm>
          <a:prstGeom prst="roundRect">
            <a:avLst>
              <a:gd name="adj" fmla="val 6000"/>
            </a:avLst>
          </a:prstGeom>
          <a:solidFill>
            <a:srgbClr val="11182B"/>
          </a:solidFill>
          <a:ln w="12700">
            <a:solidFill>
              <a:srgbClr val="242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4974336"/>
            <a:ext cx="2514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0" b="1" i="0">
                <a:solidFill>
                  <a:srgbClr val="F9730B"/>
                </a:solidFill>
                <a:latin typeface="Segoe UI"/>
              </a:rPr>
              <a:t>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54223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B0"/>
                </a:solidFill>
                <a:latin typeface="Segoe UI"/>
              </a:rPr>
              <a:t>benchmark runs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8BDF8"/>
                </a:solidFill>
                <a:latin typeface="Segoe UI"/>
              </a:rPr>
              <a:t>github.com/raunitgrey7/aegis   ·   built by Raunit Thakur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